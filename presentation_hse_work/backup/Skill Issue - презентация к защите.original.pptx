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102ffcac8924a64" /><Relationship Type="http://schemas.openxmlformats.org/officeDocument/2006/relationships/extended-properties" Target="/docProps/app.xml" Id="Rf463791ec64e40ac" /><Relationship Type="http://schemas.openxmlformats.org/officeDocument/2006/relationships/officeDocument" Target="/ppt/presentation.xml" Id="R2a728b1f6d2b443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dfc03ba8a174832"/>
  </p:sldMasterIdLst>
  <p:notesMasterIdLst>
    <p:notesMasterId xmlns:r="http://schemas.openxmlformats.org/officeDocument/2006/relationships" r:id="Ra86d1278aa984d80"/>
  </p:notesMasterIdLst>
  <p:sldIdLst>
    <p:sldId xmlns:r="http://schemas.openxmlformats.org/officeDocument/2006/relationships" id="256" r:id="Rd6af2ecaf4ad4477"/>
    <p:sldId xmlns:r="http://schemas.openxmlformats.org/officeDocument/2006/relationships" id="257" r:id="R93d633a0bc0b4842"/>
    <p:sldId xmlns:r="http://schemas.openxmlformats.org/officeDocument/2006/relationships" id="258" r:id="R7e978ef87d964d70"/>
    <p:sldId xmlns:r="http://schemas.openxmlformats.org/officeDocument/2006/relationships" id="259" r:id="R2e4fd9b537ff4525"/>
    <p:sldId xmlns:r="http://schemas.openxmlformats.org/officeDocument/2006/relationships" id="260" r:id="Re44689d37c554add"/>
    <p:sldId xmlns:r="http://schemas.openxmlformats.org/officeDocument/2006/relationships" id="261" r:id="R1a0c232d09ae45f6"/>
    <p:sldId xmlns:r="http://schemas.openxmlformats.org/officeDocument/2006/relationships" id="262" r:id="R29c220c8bb474caa"/>
    <p:sldId xmlns:r="http://schemas.openxmlformats.org/officeDocument/2006/relationships" id="263" r:id="R9cbf464f69f24492"/>
    <p:sldId xmlns:r="http://schemas.openxmlformats.org/officeDocument/2006/relationships" id="264" r:id="R7afb37f8c41a4a6c"/>
    <p:sldId xmlns:r="http://schemas.openxmlformats.org/officeDocument/2006/relationships" id="265" r:id="Reda468a315b14b00"/>
    <p:sldId xmlns:r="http://schemas.openxmlformats.org/officeDocument/2006/relationships" id="266" r:id="Rb37470e080fe48d0"/>
    <p:sldId xmlns:r="http://schemas.openxmlformats.org/officeDocument/2006/relationships" id="267" r:id="R1c5feaf793e94d76"/>
    <p:sldId xmlns:r="http://schemas.openxmlformats.org/officeDocument/2006/relationships" id="268" r:id="R15d09e5309d54d69"/>
    <p:sldId xmlns:r="http://schemas.openxmlformats.org/officeDocument/2006/relationships" id="269" r:id="Rdee936d77fd44c58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fc03ba8a174832" /><Relationship Type="http://schemas.openxmlformats.org/officeDocument/2006/relationships/theme" Target="/ppt/theme/theme1.xml" Id="R7abf9a61c9484daa" /><Relationship Type="http://schemas.openxmlformats.org/officeDocument/2006/relationships/notesMaster" Target="/ppt/notesMasters/notesMaster1.xml" Id="Ra86d1278aa984d80" /><Relationship Type="http://schemas.openxmlformats.org/officeDocument/2006/relationships/presProps" Target="/ppt/presProps.xml" Id="Rf6e5185dc34444c8" /><Relationship Type="http://schemas.openxmlformats.org/officeDocument/2006/relationships/viewProps" Target="/ppt/viewProps.xml" Id="R8089a1401f5d43c4" /><Relationship Type="http://schemas.openxmlformats.org/officeDocument/2006/relationships/tableStyles" Target="/ppt/tableStyles.xml" Id="R663102f5ccf54aae" /><Relationship Type="http://schemas.openxmlformats.org/officeDocument/2006/relationships/slide" Target="/ppt/slides/slide1.xml" Id="Rd6af2ecaf4ad4477" /><Relationship Type="http://schemas.openxmlformats.org/officeDocument/2006/relationships/slide" Target="/ppt/slides/slide2.xml" Id="R93d633a0bc0b4842" /><Relationship Type="http://schemas.openxmlformats.org/officeDocument/2006/relationships/slide" Target="/ppt/slides/slide3.xml" Id="R7e978ef87d964d70" /><Relationship Type="http://schemas.openxmlformats.org/officeDocument/2006/relationships/slide" Target="/ppt/slides/slide4.xml" Id="R2e4fd9b537ff4525" /><Relationship Type="http://schemas.openxmlformats.org/officeDocument/2006/relationships/slide" Target="/ppt/slides/slide5.xml" Id="Re44689d37c554add" /><Relationship Type="http://schemas.openxmlformats.org/officeDocument/2006/relationships/slide" Target="/ppt/slides/slide6.xml" Id="R1a0c232d09ae45f6" /><Relationship Type="http://schemas.openxmlformats.org/officeDocument/2006/relationships/slide" Target="/ppt/slides/slide7.xml" Id="R29c220c8bb474caa" /><Relationship Type="http://schemas.openxmlformats.org/officeDocument/2006/relationships/slide" Target="/ppt/slides/slide8.xml" Id="R9cbf464f69f24492" /><Relationship Type="http://schemas.openxmlformats.org/officeDocument/2006/relationships/slide" Target="/ppt/slides/slide9.xml" Id="R7afb37f8c41a4a6c" /><Relationship Type="http://schemas.openxmlformats.org/officeDocument/2006/relationships/slide" Target="/ppt/slides/slide10.xml" Id="Reda468a315b14b00" /><Relationship Type="http://schemas.openxmlformats.org/officeDocument/2006/relationships/slide" Target="/ppt/slides/slide11.xml" Id="Rb37470e080fe48d0" /><Relationship Type="http://schemas.openxmlformats.org/officeDocument/2006/relationships/slide" Target="/ppt/slides/slide12.xml" Id="R1c5feaf793e94d76" /><Relationship Type="http://schemas.openxmlformats.org/officeDocument/2006/relationships/slide" Target="/ppt/slides/slide13.xml" Id="R15d09e5309d54d69" /><Relationship Type="http://schemas.openxmlformats.org/officeDocument/2006/relationships/slide" Target="/ppt/slides/slide14.xml" Id="Rdee936d77fd44c5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0145cbd9eb3f406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91533d097e346f8" /><Relationship Type="http://schemas.openxmlformats.org/officeDocument/2006/relationships/notesMaster" Target="/ppt/notesMasters/notesMaster1.xml" Id="R47337f74a751437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bb29780b91b459a" /><Relationship Type="http://schemas.openxmlformats.org/officeDocument/2006/relationships/notesMaster" Target="/ppt/notesMasters/notesMaster1.xml" Id="R2a11667be7e44ea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721d5516d384d3c" /><Relationship Type="http://schemas.openxmlformats.org/officeDocument/2006/relationships/notesMaster" Target="/ppt/notesMasters/notesMaster1.xml" Id="Ra067e1a6c5f44ae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2a23306bcb44628" /><Relationship Type="http://schemas.openxmlformats.org/officeDocument/2006/relationships/notesMaster" Target="/ppt/notesMasters/notesMaster1.xml" Id="Red926636edfe474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ce558f5c1a142fa" /><Relationship Type="http://schemas.openxmlformats.org/officeDocument/2006/relationships/notesMaster" Target="/ppt/notesMasters/notesMaster1.xml" Id="Rd827b607d6a44bc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13fbbf1ba464512" /><Relationship Type="http://schemas.openxmlformats.org/officeDocument/2006/relationships/notesMaster" Target="/ppt/notesMasters/notesMaster1.xml" Id="R635d1d3b17df45e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a63c33e5a44433f" /><Relationship Type="http://schemas.openxmlformats.org/officeDocument/2006/relationships/notesMaster" Target="/ppt/notesMasters/notesMaster1.xml" Id="Rb4c891a4560b40e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66cd1c4bfc44e4e" /><Relationship Type="http://schemas.openxmlformats.org/officeDocument/2006/relationships/notesMaster" Target="/ppt/notesMasters/notesMaster1.xml" Id="Re691b1adee654af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dc50ded0d724884" /><Relationship Type="http://schemas.openxmlformats.org/officeDocument/2006/relationships/notesMaster" Target="/ppt/notesMasters/notesMaster1.xml" Id="R67e1a03edaed47d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11f0fed341a42fd" /><Relationship Type="http://schemas.openxmlformats.org/officeDocument/2006/relationships/notesMaster" Target="/ppt/notesMasters/notesMaster1.xml" Id="Ra2b99d905b02410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2595fb5c6be4801" /><Relationship Type="http://schemas.openxmlformats.org/officeDocument/2006/relationships/notesMaster" Target="/ppt/notesMasters/notesMaster1.xml" Id="Rac965d287c6246e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0abcb6cb64f430e" /><Relationship Type="http://schemas.openxmlformats.org/officeDocument/2006/relationships/notesMaster" Target="/ppt/notesMasters/notesMaster1.xml" Id="R2fb12383ebf540d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0d54fd7926b4d4a" /><Relationship Type="http://schemas.openxmlformats.org/officeDocument/2006/relationships/notesMaster" Target="/ppt/notesMasters/notesMaster1.xml" Id="R900f45288b8a494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bf595df950b4990" /><Relationship Type="http://schemas.openxmlformats.org/officeDocument/2006/relationships/notesMaster" Target="/ppt/notesMasters/notesMaster1.xml" Id="R2eae60c61523472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e17a0175ea49f8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dbfc8f15d5134d46" /><Relationship Type="http://schemas.openxmlformats.org/officeDocument/2006/relationships/slideLayout" Target="/ppt/slideLayouts/slideLayout2.xml" Id="R82099682506b4b7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2099682506b4b7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a07d910e21a4550" /><Relationship Type="http://schemas.openxmlformats.org/officeDocument/2006/relationships/image" Target="/ppt/media/image.png" Id="R38f5c014b4784420" /><Relationship Type="http://schemas.openxmlformats.org/officeDocument/2006/relationships/image" Target="/ppt/media/image2.png" Id="Ra04e316a84ee4e1d" /><Relationship Type="http://schemas.openxmlformats.org/officeDocument/2006/relationships/notesSlide" Target="/ppt/notesSlides/notesSlide1.xml" Id="R1013a5936fd6430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4fef19895c4408f" /><Relationship Type="http://schemas.openxmlformats.org/officeDocument/2006/relationships/notesSlide" Target="/ppt/notesSlides/notesSlide2.xml" Id="Rfecdcf09f4c7422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692c884987e468e" /><Relationship Type="http://schemas.openxmlformats.org/officeDocument/2006/relationships/notesSlide" Target="/ppt/notesSlides/notesSlide3.xml" Id="Reec5c552c5a54c9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66658a62de74189" /><Relationship Type="http://schemas.openxmlformats.org/officeDocument/2006/relationships/notesSlide" Target="/ppt/notesSlides/notesSlide4.xml" Id="R64d3fb7f90ee479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ac461b41fe34b80" /><Relationship Type="http://schemas.openxmlformats.org/officeDocument/2006/relationships/image" Target="/ppt/media/image3.png" Id="R2a508337664241f6" /><Relationship Type="http://schemas.openxmlformats.org/officeDocument/2006/relationships/notesSlide" Target="/ppt/notesSlides/notesSlide5.xml" Id="R0b8de79b8e1d46c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a07a44507e04555" /><Relationship Type="http://schemas.openxmlformats.org/officeDocument/2006/relationships/image" Target="/ppt/media/image4.png" Id="R7816da5faf9f4ad5" /><Relationship Type="http://schemas.openxmlformats.org/officeDocument/2006/relationships/notesSlide" Target="/ppt/notesSlides/notesSlide6.xml" Id="R43518cb94157402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198295fe7c24e80" /><Relationship Type="http://schemas.openxmlformats.org/officeDocument/2006/relationships/notesSlide" Target="/ppt/notesSlides/notesSlide7.xml" Id="R70b1bebfb77a442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28e82fe4f084bb8" /><Relationship Type="http://schemas.openxmlformats.org/officeDocument/2006/relationships/notesSlide" Target="/ppt/notesSlides/notesSlide8.xml" Id="R7e4c1355c9b145f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d588755d0f34d49" /><Relationship Type="http://schemas.openxmlformats.org/officeDocument/2006/relationships/image" Target="/ppt/media/image5.png" Id="Rc35ca35deb044a56" /><Relationship Type="http://schemas.openxmlformats.org/officeDocument/2006/relationships/notesSlide" Target="/ppt/notesSlides/notesSlide9.xml" Id="Rd87ceb85cb4845b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c380e6bd7bb4a0d" /><Relationship Type="http://schemas.openxmlformats.org/officeDocument/2006/relationships/image" Target="/ppt/media/image6.png" Id="R209ec2f10b8748a6" /><Relationship Type="http://schemas.openxmlformats.org/officeDocument/2006/relationships/image" Target="/ppt/media/image7.png" Id="R4b81cea028084a58" /><Relationship Type="http://schemas.openxmlformats.org/officeDocument/2006/relationships/image" Target="/ppt/media/image8.png" Id="Ref3c731e69ef44cb" /><Relationship Type="http://schemas.openxmlformats.org/officeDocument/2006/relationships/notesSlide" Target="/ppt/notesSlides/notesSlide10.xml" Id="Ra2844a2a26d64f7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96530b6d9184ea6" /><Relationship Type="http://schemas.openxmlformats.org/officeDocument/2006/relationships/notesSlide" Target="/ppt/notesSlides/notesSlide11.xml" Id="R7d290e3bdffa425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167ba2971534a06" /><Relationship Type="http://schemas.openxmlformats.org/officeDocument/2006/relationships/notesSlide" Target="/ppt/notesSlides/notesSlide12.xml" Id="Re679ff72410a476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14ad1e8267941b1" /><Relationship Type="http://schemas.openxmlformats.org/officeDocument/2006/relationships/notesSlide" Target="/ppt/notesSlides/notesSlide13.xml" Id="Ra87ed3f3251c428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d13a5c026b64523" /><Relationship Type="http://schemas.openxmlformats.org/officeDocument/2006/relationships/notesSlide" Target="/ppt/notesSlides/notesSlide14.xml" Id="Rccf9de93f04546f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13EB2E39-B8E8-4F0A-8DAD-F61C747CA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F"/>
          </a:solidFill>
        </p:spPr>
      </p:sp>
      <p:sp>
        <p:nvSpPr>
          <p:cNvPr id="2" name="cover-top">
            <a:extLst xmlns:a="http://schemas.openxmlformats.org/drawingml/2006/main">
              <a:ext uri="{FF2B5EF4-FFF2-40B4-BE49-F238E27FC236}">
                <a16:creationId xmlns:a16="http://schemas.microsoft.com/office/drawing/2014/main" id="{12FFE08D-42DA-40A1-BEFE-0F0C67FC9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B63"/>
          </a:solidFill>
        </p:spPr>
      </p:sp>
      <p:sp>
        <p:nvSpPr>
          <p:cNvPr id="3" name="cover-side">
            <a:extLst xmlns:a="http://schemas.openxmlformats.org/drawingml/2006/main">
              <a:ext uri="{FF2B5EF4-FFF2-40B4-BE49-F238E27FC236}">
                <a16:creationId xmlns:a16="http://schemas.microsoft.com/office/drawing/2014/main" id="{3C4C4974-A448-4A0E-8210-2269C8AE5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0"/>
            <a:ext cx="600075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</p:spPr>
      </p:sp>
      <p:sp>
        <p:nvSpPr>
          <p:cNvPr id="4" name="cover-accent-1">
            <a:extLst xmlns:a="http://schemas.openxmlformats.org/drawingml/2006/main">
              <a:ext uri="{FF2B5EF4-FFF2-40B4-BE49-F238E27FC236}">
                <a16:creationId xmlns:a16="http://schemas.microsoft.com/office/drawing/2014/main" id="{8792C505-640E-444F-8524-19B164FC3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0"/>
            <a:ext cx="43815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8C9"/>
          </a:solidFill>
        </p:spPr>
      </p:sp>
      <p:sp>
        <p:nvSpPr>
          <p:cNvPr id="5" name="cover-accent-2">
            <a:extLst xmlns:a="http://schemas.openxmlformats.org/drawingml/2006/main">
              <a:ext uri="{FF2B5EF4-FFF2-40B4-BE49-F238E27FC236}">
                <a16:creationId xmlns:a16="http://schemas.microsoft.com/office/drawing/2014/main" id="{12C60D71-B589-45BC-BCA3-F33974167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7105650"/>
            <a:ext cx="419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3A"/>
          </a:solidFill>
        </p:spPr>
      </p:sp>
      <p:sp>
        <p:nvSpPr>
          <p:cNvPr id="6" name="cover-label">
            <a:extLst xmlns:a="http://schemas.openxmlformats.org/drawingml/2006/main">
              <a:ext uri="{FF2B5EF4-FFF2-40B4-BE49-F238E27FC236}">
                <a16:creationId xmlns:a16="http://schemas.microsoft.com/office/drawing/2014/main" id="{99F4DA20-EB2F-4AE7-ABEB-94C97F814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1950"/>
            <a:ext cx="8572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t>ВЫПУСКНАЯ КВАЛИФИКАЦИОННАЯ РАБОТА</a:t>
            </a:r>
          </a:p>
        </p:txBody>
      </p:sp>
      <p:sp>
        <p:nvSpPr>
          <p:cNvPr id="7" name="cover-title">
            <a:extLst xmlns:a="http://schemas.openxmlformats.org/drawingml/2006/main">
              <a:ext uri="{FF2B5EF4-FFF2-40B4-BE49-F238E27FC236}">
                <a16:creationId xmlns:a16="http://schemas.microsoft.com/office/drawing/2014/main" id="{7EEEDF64-A0E6-4E26-916F-E6B9CD896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52650"/>
            <a:ext cx="10287000" cy="2400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092B63"/>
                </a:solidFill>
              </a:defRPr>
            </a:pPr>
            <a:r>
              <a:t>Разработка обучающей</a:t>
            </a:r>
          </a:p>
          <a:p xmlns:a="http://schemas.openxmlformats.org/drawingml/2006/main">
            <a:pPr>
              <a:defRPr sz="4800" b="1">
                <a:solidFill>
                  <a:srgbClr val="092B63"/>
                </a:solidFill>
              </a:defRPr>
            </a:pPr>
            <a:r>
              <a:t>игры-платформера</a:t>
            </a:r>
          </a:p>
          <a:p xmlns:a="http://schemas.openxmlformats.org/drawingml/2006/main">
            <a:pPr>
              <a:defRPr sz="4800" b="1">
                <a:solidFill>
                  <a:srgbClr val="092B63"/>
                </a:solidFill>
              </a:defRPr>
            </a:pPr>
            <a:r>
              <a:t>с интеграцией ИИ</a:t>
            </a:r>
          </a:p>
        </p:txBody>
      </p:sp>
      <p:sp>
        <p:nvSpPr>
          <p:cNvPr id="8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0836B12A-2DC7-4617-A4DA-F18D9E6FD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43450"/>
            <a:ext cx="85725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B5CAD"/>
                </a:solidFill>
              </a:defRPr>
            </a:pPr>
            <a:r>
              <a:t>для освоения основ программирования</a:t>
            </a:r>
          </a:p>
        </p:txBody>
      </p:sp>
      <p:sp>
        <p:nvSpPr>
          <p:cNvPr id="9" name="cover-meta">
            <a:extLst xmlns:a="http://schemas.openxmlformats.org/drawingml/2006/main">
              <a:ext uri="{FF2B5EF4-FFF2-40B4-BE49-F238E27FC236}">
                <a16:creationId xmlns:a16="http://schemas.microsoft.com/office/drawing/2014/main" id="{49334819-E8A4-4725-A93E-228A04FB3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829300"/>
            <a:ext cx="88582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101827"/>
                </a:solidFill>
              </a:defRPr>
            </a:pPr>
            <a:r>
              <a:t>Skill Issue · Godot 4 · Python/FastAPI · AI-подсказки</a:t>
            </a:r>
          </a:p>
        </p:txBody>
      </p:sp>
      <p:sp>
        <p:nvSpPr>
          <p:cNvPr id="10" name="cover-author">
            <a:extLst xmlns:a="http://schemas.openxmlformats.org/drawingml/2006/main">
              <a:ext uri="{FF2B5EF4-FFF2-40B4-BE49-F238E27FC236}">
                <a16:creationId xmlns:a16="http://schemas.microsoft.com/office/drawing/2014/main" id="{B2A68D75-CFD3-49A8-99EA-7ECFB4AA0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620000"/>
            <a:ext cx="72390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5F6D7E"/>
                </a:solidFill>
              </a:defRPr>
            </a:pPr>
            <a:r>
              <a:t>Блинков Илья Олегович</a:t>
            </a:r>
          </a:p>
          <a:p xmlns:a="http://schemas.openxmlformats.org/drawingml/2006/main">
            <a:pPr>
              <a:defRPr sz="1950">
                <a:solidFill>
                  <a:srgbClr val="5F6D7E"/>
                </a:solidFill>
              </a:defRPr>
            </a:pPr>
            <a:r>
              <a:t>Нижний Новгород, 2026</a:t>
            </a:r>
          </a:p>
        </p:txBody>
      </p:sp>
      <p:pic>
        <p:nvPicPr>
          <p:cNvPr id="11" name="cover-gameplay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f5c014b4784420"/>
          <a:srcRect xmlns:a="http://schemas.openxmlformats.org/drawingml/2006/main" l="32" t="0" r="3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2050" y="1562100"/>
            <a:ext cx="4953000" cy="2952750"/>
          </a:xfrm>
          <a:prstGeom xmlns:a="http://schemas.openxmlformats.org/drawingml/2006/main" prst="rect">
            <a:avLst/>
          </a:prstGeom>
        </p:spPr>
      </p:pic>
      <p:pic>
        <p:nvPicPr>
          <p:cNvPr id="12" name="cover-architectur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4e316a84ee4e1d"/>
          <a:stretch xmlns:a="http://schemas.openxmlformats.org/drawingml/2006/main"/>
        </p:blipFill>
        <p:spPr>
          <a:xfrm xmlns:a="http://schemas.openxmlformats.org/drawingml/2006/main">
            <a:off x="13137103" y="4953000"/>
            <a:ext cx="4072444" cy="30670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055260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A4DAFE5A-3C3F-4B29-AEB1-B8D289BFD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F"/>
          </a:solidFill>
        </p:spPr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36AA4017-0B62-471F-BD1E-414485ADF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9600"/>
            <a:ext cx="120015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92B63"/>
                </a:solidFill>
              </a:defRPr>
            </a:pPr>
            <a:r>
              <a:t>Актуальность: почему нужен такой формат</a:t>
            </a:r>
          </a:p>
        </p:txBody>
      </p:sp>
      <p:sp>
        <p:nvSpPr>
          <p:cNvPr id="3" name="subtitle-2">
            <a:extLst xmlns:a="http://schemas.openxmlformats.org/drawingml/2006/main">
              <a:ext uri="{FF2B5EF4-FFF2-40B4-BE49-F238E27FC236}">
                <a16:creationId xmlns:a16="http://schemas.microsoft.com/office/drawing/2014/main" id="{E0BACFEE-4824-4C99-BC41-ADBB681DC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66850"/>
            <a:ext cx="13525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F6D7E"/>
                </a:solidFill>
              </a:defRPr>
            </a:pPr>
            <a:r>
              <a:t>Новичку важно видеть связь между кодом и результатом сразу, а не после абстрактной лекции.</a:t>
            </a:r>
          </a:p>
        </p:txBody>
      </p:sp>
      <p:sp>
        <p:nvSpPr>
          <p:cNvPr id="4" name="title-accent-2">
            <a:extLst xmlns:a="http://schemas.openxmlformats.org/drawingml/2006/main">
              <a:ext uri="{FF2B5EF4-FFF2-40B4-BE49-F238E27FC236}">
                <a16:creationId xmlns:a16="http://schemas.microsoft.com/office/drawing/2014/main" id="{5B93DB91-0759-423F-983A-020C77D5A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2095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8C9"/>
          </a:solidFill>
        </p:spPr>
      </p:sp>
      <p:sp>
        <p:nvSpPr>
          <p:cNvPr id="5" name="problem-1-base">
            <a:extLst xmlns:a="http://schemas.openxmlformats.org/drawingml/2006/main">
              <a:ext uri="{FF2B5EF4-FFF2-40B4-BE49-F238E27FC236}">
                <a16:creationId xmlns:a16="http://schemas.microsoft.com/office/drawing/2014/main" id="{AAA43947-3646-45B5-BF28-F8E5DCC47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67000"/>
            <a:ext cx="4762500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6" name="problem-1-accent">
            <a:extLst xmlns:a="http://schemas.openxmlformats.org/drawingml/2006/main">
              <a:ext uri="{FF2B5EF4-FFF2-40B4-BE49-F238E27FC236}">
                <a16:creationId xmlns:a16="http://schemas.microsoft.com/office/drawing/2014/main" id="{1F5126A7-5D95-4783-9550-5C1BF1CFF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67000"/>
            <a:ext cx="114300" cy="2381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5CAD"/>
          </a:solidFill>
        </p:spPr>
      </p:sp>
      <p:sp>
        <p:nvSpPr>
          <p:cNvPr id="7" name="problem-1-heading">
            <a:extLst xmlns:a="http://schemas.openxmlformats.org/drawingml/2006/main">
              <a:ext uri="{FF2B5EF4-FFF2-40B4-BE49-F238E27FC236}">
                <a16:creationId xmlns:a16="http://schemas.microsoft.com/office/drawing/2014/main" id="{3D1B8538-2391-4D85-81AC-8C634AEE3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914650"/>
            <a:ext cx="42100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92B63"/>
                </a:solidFill>
              </a:defRPr>
            </a:pPr>
            <a:r>
              <a:t>Абстрактность</a:t>
            </a:r>
          </a:p>
        </p:txBody>
      </p:sp>
      <p:sp>
        <p:nvSpPr>
          <p:cNvPr id="8" name="problem-1-body">
            <a:extLst xmlns:a="http://schemas.openxmlformats.org/drawingml/2006/main">
              <a:ext uri="{FF2B5EF4-FFF2-40B4-BE49-F238E27FC236}">
                <a16:creationId xmlns:a16="http://schemas.microsoft.com/office/drawing/2014/main" id="{C24FD133-FF23-48E0-929A-76D6CC54B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429000"/>
            <a:ext cx="4210050" cy="1466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01827"/>
                </a:solidFill>
              </a:defRPr>
            </a:pPr>
            <a:r>
              <a:t>Переменные, условия, циклы и функции сложно понять без видимого действия и контекста.</a:t>
            </a:r>
          </a:p>
        </p:txBody>
      </p:sp>
      <p:sp>
        <p:nvSpPr>
          <p:cNvPr id="9" name="problem-2-base">
            <a:extLst xmlns:a="http://schemas.openxmlformats.org/drawingml/2006/main">
              <a:ext uri="{FF2B5EF4-FFF2-40B4-BE49-F238E27FC236}">
                <a16:creationId xmlns:a16="http://schemas.microsoft.com/office/drawing/2014/main" id="{6A8AA646-ACBD-47DE-8DB9-BE8D70A13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67000"/>
            <a:ext cx="4762500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0" name="problem-2-accent">
            <a:extLst xmlns:a="http://schemas.openxmlformats.org/drawingml/2006/main">
              <a:ext uri="{FF2B5EF4-FFF2-40B4-BE49-F238E27FC236}">
                <a16:creationId xmlns:a16="http://schemas.microsoft.com/office/drawing/2014/main" id="{2E5F7D13-A192-473D-B8EB-EEF0F15F6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67000"/>
            <a:ext cx="114300" cy="2381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4848"/>
          </a:solidFill>
        </p:spPr>
      </p:sp>
      <p:sp>
        <p:nvSpPr>
          <p:cNvPr id="11" name="problem-2-heading">
            <a:extLst xmlns:a="http://schemas.openxmlformats.org/drawingml/2006/main">
              <a:ext uri="{FF2B5EF4-FFF2-40B4-BE49-F238E27FC236}">
                <a16:creationId xmlns:a16="http://schemas.microsoft.com/office/drawing/2014/main" id="{534FD919-C74E-457C-8585-AF6AD964D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914650"/>
            <a:ext cx="42100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92B63"/>
                </a:solidFill>
              </a:defRPr>
            </a:pPr>
            <a:r>
              <a:t>Ошибки как тупик</a:t>
            </a:r>
          </a:p>
        </p:txBody>
      </p:sp>
      <p:sp>
        <p:nvSpPr>
          <p:cNvPr id="12" name="problem-2-body">
            <a:extLst xmlns:a="http://schemas.openxmlformats.org/drawingml/2006/main">
              <a:ext uri="{FF2B5EF4-FFF2-40B4-BE49-F238E27FC236}">
                <a16:creationId xmlns:a16="http://schemas.microsoft.com/office/drawing/2014/main" id="{4E175028-8B38-439C-A9A2-3F79EA49A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429000"/>
            <a:ext cx="4210050" cy="1466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01827"/>
                </a:solidFill>
              </a:defRPr>
            </a:pPr>
            <a:r>
              <a:t>Сообщение об ошибке часто не объясняет, что именно исправить и почему решение не работает.</a:t>
            </a:r>
          </a:p>
        </p:txBody>
      </p:sp>
      <p:sp>
        <p:nvSpPr>
          <p:cNvPr id="13" name="problem-3-base">
            <a:extLst xmlns:a="http://schemas.openxmlformats.org/drawingml/2006/main">
              <a:ext uri="{FF2B5EF4-FFF2-40B4-BE49-F238E27FC236}">
                <a16:creationId xmlns:a16="http://schemas.microsoft.com/office/drawing/2014/main" id="{611EE697-3D65-491D-8EC8-08CD3E5E7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8700" y="2667000"/>
            <a:ext cx="4762500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4" name="problem-3-accent">
            <a:extLst xmlns:a="http://schemas.openxmlformats.org/drawingml/2006/main">
              <a:ext uri="{FF2B5EF4-FFF2-40B4-BE49-F238E27FC236}">
                <a16:creationId xmlns:a16="http://schemas.microsoft.com/office/drawing/2014/main" id="{EB6671E6-991F-41AE-B269-44E1D26A9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8700" y="2667000"/>
            <a:ext cx="114300" cy="2381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A23A"/>
          </a:solidFill>
        </p:spPr>
      </p:sp>
      <p:sp>
        <p:nvSpPr>
          <p:cNvPr id="15" name="problem-3-heading">
            <a:extLst xmlns:a="http://schemas.openxmlformats.org/drawingml/2006/main">
              <a:ext uri="{FF2B5EF4-FFF2-40B4-BE49-F238E27FC236}">
                <a16:creationId xmlns:a16="http://schemas.microsoft.com/office/drawing/2014/main" id="{C725227E-68DE-4E7C-A1F2-1D39957D2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2550" y="2914650"/>
            <a:ext cx="42100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92B63"/>
                </a:solidFill>
              </a:defRPr>
            </a:pPr>
            <a:r>
              <a:t>Низкая мотивация</a:t>
            </a:r>
          </a:p>
        </p:txBody>
      </p:sp>
      <p:sp>
        <p:nvSpPr>
          <p:cNvPr id="16" name="problem-3-body">
            <a:extLst xmlns:a="http://schemas.openxmlformats.org/drawingml/2006/main">
              <a:ext uri="{FF2B5EF4-FFF2-40B4-BE49-F238E27FC236}">
                <a16:creationId xmlns:a16="http://schemas.microsoft.com/office/drawing/2014/main" id="{3F9711FA-02E9-438A-B58D-64339A748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2550" y="3429000"/>
            <a:ext cx="4210050" cy="1466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01827"/>
                </a:solidFill>
              </a:defRPr>
            </a:pPr>
            <a:r>
              <a:t>Однообразные упражнения быстро превращают обучение в механический ввод кода.</a:t>
            </a:r>
          </a:p>
        </p:txBody>
      </p:sp>
      <p:sp>
        <p:nvSpPr>
          <p:cNvPr id="17" name="hypothesis-bg">
            <a:extLst xmlns:a="http://schemas.openxmlformats.org/drawingml/2006/main">
              <a:ext uri="{FF2B5EF4-FFF2-40B4-BE49-F238E27FC236}">
                <a16:creationId xmlns:a16="http://schemas.microsoft.com/office/drawing/2014/main" id="{A1FEEF1C-F9DB-4D0A-B2D7-A846D6598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6191250"/>
            <a:ext cx="14325600" cy="1809750"/>
          </a:xfrm>
          <a:prstGeom xmlns:a="http://schemas.openxmlformats.org/drawingml/2006/main" prst="roundRect">
            <a:avLst>
              <a:gd name="adj" fmla="val 14737"/>
            </a:avLst>
          </a:prstGeom>
          <a:solidFill xmlns:a="http://schemas.openxmlformats.org/drawingml/2006/main">
            <a:srgbClr val="E8FBFF"/>
          </a:solidFill>
        </p:spPr>
      </p:sp>
      <p:sp>
        <p:nvSpPr>
          <p:cNvPr id="18" name="hypothesis-title">
            <a:extLst xmlns:a="http://schemas.openxmlformats.org/drawingml/2006/main">
              <a:ext uri="{FF2B5EF4-FFF2-40B4-BE49-F238E27FC236}">
                <a16:creationId xmlns:a16="http://schemas.microsoft.com/office/drawing/2014/main" id="{5208FC44-7603-4DA5-B4C6-F49D2F0DD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6515100"/>
            <a:ext cx="3619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92B63"/>
                </a:solidFill>
              </a:defRPr>
            </a:pPr>
            <a:r>
              <a:t>Гипотеза решения</a:t>
            </a:r>
          </a:p>
        </p:txBody>
      </p:sp>
      <p:sp>
        <p:nvSpPr>
          <p:cNvPr id="19" name="hypothesis-text">
            <a:extLst xmlns:a="http://schemas.openxmlformats.org/drawingml/2006/main">
              <a:ext uri="{FF2B5EF4-FFF2-40B4-BE49-F238E27FC236}">
                <a16:creationId xmlns:a16="http://schemas.microsoft.com/office/drawing/2014/main" id="{232C3EF7-46D8-45DA-9F74-2B9D71F9B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7067550"/>
            <a:ext cx="132207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101827"/>
                </a:solidFill>
              </a:defRPr>
            </a:pPr>
            <a:r>
              <a:t>Игровая среда + AI-подсказки + адаптация сложности дают новичку практику, обратную связь и ощущение прогресса в одном сценарии.</a:t>
            </a:r>
          </a:p>
        </p:txBody>
      </p:sp>
      <p:sp>
        <p:nvSpPr>
          <p:cNvPr id="20" name="footer-line-2">
            <a:extLst xmlns:a="http://schemas.openxmlformats.org/drawingml/2006/main">
              <a:ext uri="{FF2B5EF4-FFF2-40B4-BE49-F238E27FC236}">
                <a16:creationId xmlns:a16="http://schemas.microsoft.com/office/drawing/2014/main" id="{80A5CFC3-AB51-44AB-978F-4F2E26D9B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620250"/>
            <a:ext cx="16459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CAD"/>
          </a:solidFill>
        </p:spPr>
      </p:sp>
      <p:sp>
        <p:nvSpPr>
          <p:cNvPr id="21" name="footer-2">
            <a:extLst xmlns:a="http://schemas.openxmlformats.org/drawingml/2006/main">
              <a:ext uri="{FF2B5EF4-FFF2-40B4-BE49-F238E27FC236}">
                <a16:creationId xmlns:a16="http://schemas.microsoft.com/office/drawing/2014/main" id="{DAE5F88B-4C97-47A5-A445-B5CD2DF90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791700"/>
            <a:ext cx="164592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F6D7E"/>
                </a:solidFill>
              </a:defRPr>
            </a:pPr>
            <a:r>
              <a:t>ВКР: обучающая игра-платформер с интеграцией ИИ  |  2</a:t>
            </a:r>
          </a:p>
        </p:txBody>
      </p:sp>
    </p:spTree>
    <p:extLst>
      <p:ext uri="{BB962C8B-B14F-4D97-AF65-F5344CB8AC3E}">
        <p14:creationId xmlns:p14="http://schemas.microsoft.com/office/powerpoint/2010/main" val="83557576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3E9D9325-42A8-4ADA-9216-8E26799F8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F"/>
          </a:solidFill>
        </p:spPr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5ADC1D1E-D79A-4317-8AC8-0F5F7F04F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9600"/>
            <a:ext cx="120015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92B63"/>
                </a:solidFill>
              </a:defRPr>
            </a:pPr>
            <a:r>
              <a:t>Цель, объект и задачи исследования</a:t>
            </a:r>
          </a:p>
        </p:txBody>
      </p:sp>
      <p:sp>
        <p:nvSpPr>
          <p:cNvPr id="3" name="subtitle-3">
            <a:extLst xmlns:a="http://schemas.openxmlformats.org/drawingml/2006/main">
              <a:ext uri="{FF2B5EF4-FFF2-40B4-BE49-F238E27FC236}">
                <a16:creationId xmlns:a16="http://schemas.microsoft.com/office/drawing/2014/main" id="{BF1D1B44-F809-4093-9D5D-9A5599105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66850"/>
            <a:ext cx="13525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F6D7E"/>
                </a:solidFill>
              </a:defRPr>
            </a:pPr>
            <a:r>
              <a:t>На защите этот слайд фиксирует рамки работы и показывает, что разработка не оторвана от исследования.</a:t>
            </a:r>
          </a:p>
        </p:txBody>
      </p:sp>
      <p:sp>
        <p:nvSpPr>
          <p:cNvPr id="4" name="title-accent-3">
            <a:extLst xmlns:a="http://schemas.openxmlformats.org/drawingml/2006/main">
              <a:ext uri="{FF2B5EF4-FFF2-40B4-BE49-F238E27FC236}">
                <a16:creationId xmlns:a16="http://schemas.microsoft.com/office/drawing/2014/main" id="{E6D01182-3F5B-4B3F-A321-C8F7831C6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2095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8C9"/>
          </a:solidFill>
        </p:spPr>
      </p:sp>
      <p:sp>
        <p:nvSpPr>
          <p:cNvPr id="5" name="goal-bg">
            <a:extLst xmlns:a="http://schemas.openxmlformats.org/drawingml/2006/main">
              <a:ext uri="{FF2B5EF4-FFF2-40B4-BE49-F238E27FC236}">
                <a16:creationId xmlns:a16="http://schemas.microsoft.com/office/drawing/2014/main" id="{4CFF6937-4A8A-4B15-A2F3-8F0B1D518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71750"/>
            <a:ext cx="7429500" cy="31432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6" name="goal-kicker">
            <a:extLst xmlns:a="http://schemas.openxmlformats.org/drawingml/2006/main">
              <a:ext uri="{FF2B5EF4-FFF2-40B4-BE49-F238E27FC236}">
                <a16:creationId xmlns:a16="http://schemas.microsoft.com/office/drawing/2014/main" id="{FBDECA94-686A-413E-8DAF-8AC9B2FBF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952750"/>
            <a:ext cx="1714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6B8C9"/>
                </a:solidFill>
              </a:defRPr>
            </a:pPr>
            <a:r>
              <a:t>Цель</a:t>
            </a:r>
          </a:p>
        </p:txBody>
      </p:sp>
      <p:sp>
        <p:nvSpPr>
          <p:cNvPr id="7" name="goal-text">
            <a:extLst xmlns:a="http://schemas.openxmlformats.org/drawingml/2006/main">
              <a:ext uri="{FF2B5EF4-FFF2-40B4-BE49-F238E27FC236}">
                <a16:creationId xmlns:a16="http://schemas.microsoft.com/office/drawing/2014/main" id="{1C805FF5-78DF-4577-9FE6-7B56451D3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524250"/>
            <a:ext cx="6286500" cy="1219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92B63"/>
                </a:solidFill>
              </a:defRPr>
            </a:pPr>
            <a:r>
              <a:t>Разработать игру-платформер для обучения основам программирования с поддержкой ИИ в реальном времени.</a:t>
            </a:r>
          </a:p>
        </p:txBody>
      </p:sp>
      <p:sp>
        <p:nvSpPr>
          <p:cNvPr id="8" name="object-text">
            <a:extLst xmlns:a="http://schemas.openxmlformats.org/drawingml/2006/main">
              <a:ext uri="{FF2B5EF4-FFF2-40B4-BE49-F238E27FC236}">
                <a16:creationId xmlns:a16="http://schemas.microsoft.com/office/drawing/2014/main" id="{89F548AA-B962-4D42-89EF-97693DA9B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53000"/>
            <a:ext cx="6286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F6D7E"/>
                </a:solidFill>
              </a:defRPr>
            </a:pPr>
            <a:r>
              <a:t>Объект: процесс обучения основам программирования.</a:t>
            </a:r>
          </a:p>
          <a:p xmlns:a="http://schemas.openxmlformats.org/drawingml/2006/main">
            <a:pPr>
              <a:defRPr sz="1650">
                <a:solidFill>
                  <a:srgbClr val="5F6D7E"/>
                </a:solidFill>
              </a:defRPr>
            </a:pPr>
            <a:r>
              <a:t>Предмет: игровой платформер и AI-модуль персонализированной помощи.</a:t>
            </a:r>
          </a:p>
        </p:txBody>
      </p:sp>
      <p:sp>
        <p:nvSpPr>
          <p:cNvPr id="9" name="task-1-line">
            <a:extLst xmlns:a="http://schemas.openxmlformats.org/drawingml/2006/main">
              <a:ext uri="{FF2B5EF4-FFF2-40B4-BE49-F238E27FC236}">
                <a16:creationId xmlns:a16="http://schemas.microsoft.com/office/drawing/2014/main" id="{9AD772BC-9180-4A7D-AC3A-721F74400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200400"/>
            <a:ext cx="2857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5CAD"/>
          </a:solidFill>
        </p:spPr>
      </p:sp>
      <p:sp>
        <p:nvSpPr>
          <p:cNvPr id="10" name="task-1-num">
            <a:extLst xmlns:a="http://schemas.openxmlformats.org/drawingml/2006/main">
              <a:ext uri="{FF2B5EF4-FFF2-40B4-BE49-F238E27FC236}">
                <a16:creationId xmlns:a16="http://schemas.microsoft.com/office/drawing/2014/main" id="{6992153E-92A9-4055-9D94-47657105C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647950"/>
            <a:ext cx="66675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0B5CAD"/>
          </a:solidFill>
        </p:spPr>
      </p:sp>
      <p:sp>
        <p:nvSpPr>
          <p:cNvPr id="11" name="task-1-idx">
            <a:extLst xmlns:a="http://schemas.openxmlformats.org/drawingml/2006/main">
              <a:ext uri="{FF2B5EF4-FFF2-40B4-BE49-F238E27FC236}">
                <a16:creationId xmlns:a16="http://schemas.microsoft.com/office/drawing/2014/main" id="{251391C7-6461-4195-95AA-CABE64295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771775"/>
            <a:ext cx="3238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2" name="task-1-label">
            <a:extLst xmlns:a="http://schemas.openxmlformats.org/drawingml/2006/main">
              <a:ext uri="{FF2B5EF4-FFF2-40B4-BE49-F238E27FC236}">
                <a16:creationId xmlns:a16="http://schemas.microsoft.com/office/drawing/2014/main" id="{4815C919-28D9-4747-8B6A-92C90D7AB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486150"/>
            <a:ext cx="2857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92B63"/>
                </a:solidFill>
              </a:defRPr>
            </a:pPr>
            <a:r>
              <a:t>анализ аналогов</a:t>
            </a:r>
          </a:p>
        </p:txBody>
      </p:sp>
      <p:sp>
        <p:nvSpPr>
          <p:cNvPr id="13" name="task-2-line">
            <a:extLst xmlns:a="http://schemas.openxmlformats.org/drawingml/2006/main">
              <a:ext uri="{FF2B5EF4-FFF2-40B4-BE49-F238E27FC236}">
                <a16:creationId xmlns:a16="http://schemas.microsoft.com/office/drawing/2014/main" id="{4E1C4E8C-8F03-4B0D-AA75-5B9B81C17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3200400"/>
            <a:ext cx="2857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B8C9"/>
          </a:solidFill>
        </p:spPr>
      </p:sp>
      <p:sp>
        <p:nvSpPr>
          <p:cNvPr id="14" name="task-2-num">
            <a:extLst xmlns:a="http://schemas.openxmlformats.org/drawingml/2006/main">
              <a:ext uri="{FF2B5EF4-FFF2-40B4-BE49-F238E27FC236}">
                <a16:creationId xmlns:a16="http://schemas.microsoft.com/office/drawing/2014/main" id="{7253B6E8-B451-4410-B647-806A234BA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2647950"/>
            <a:ext cx="66675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16B8C9"/>
          </a:solidFill>
        </p:spPr>
      </p:sp>
      <p:sp>
        <p:nvSpPr>
          <p:cNvPr id="15" name="task-2-idx">
            <a:extLst xmlns:a="http://schemas.openxmlformats.org/drawingml/2006/main">
              <a:ext uri="{FF2B5EF4-FFF2-40B4-BE49-F238E27FC236}">
                <a16:creationId xmlns:a16="http://schemas.microsoft.com/office/drawing/2014/main" id="{68788C3E-B9BF-4F86-97F0-C14CAD1C5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2771775"/>
            <a:ext cx="3238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6" name="task-2-label">
            <a:extLst xmlns:a="http://schemas.openxmlformats.org/drawingml/2006/main">
              <a:ext uri="{FF2B5EF4-FFF2-40B4-BE49-F238E27FC236}">
                <a16:creationId xmlns:a16="http://schemas.microsoft.com/office/drawing/2014/main" id="{1379CD85-DCEE-4EED-9B0A-A229A044E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3486150"/>
            <a:ext cx="2857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92B63"/>
                </a:solidFill>
              </a:defRPr>
            </a:pPr>
            <a:r>
              <a:t>концепция продукта</a:t>
            </a:r>
          </a:p>
        </p:txBody>
      </p:sp>
      <p:sp>
        <p:nvSpPr>
          <p:cNvPr id="17" name="task-3-line">
            <a:extLst xmlns:a="http://schemas.openxmlformats.org/drawingml/2006/main">
              <a:ext uri="{FF2B5EF4-FFF2-40B4-BE49-F238E27FC236}">
                <a16:creationId xmlns:a16="http://schemas.microsoft.com/office/drawing/2014/main" id="{0B0DAAFA-B535-4DA2-91F0-5D6ED787B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314950"/>
            <a:ext cx="2857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9C68"/>
          </a:solidFill>
        </p:spPr>
      </p:sp>
      <p:sp>
        <p:nvSpPr>
          <p:cNvPr id="18" name="task-3-num">
            <a:extLst xmlns:a="http://schemas.openxmlformats.org/drawingml/2006/main">
              <a:ext uri="{FF2B5EF4-FFF2-40B4-BE49-F238E27FC236}">
                <a16:creationId xmlns:a16="http://schemas.microsoft.com/office/drawing/2014/main" id="{0A533F62-3132-4F7D-9EA4-601F47377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762500"/>
            <a:ext cx="66675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1B9C68"/>
          </a:solidFill>
        </p:spPr>
      </p:sp>
      <p:sp>
        <p:nvSpPr>
          <p:cNvPr id="19" name="task-3-idx">
            <a:extLst xmlns:a="http://schemas.openxmlformats.org/drawingml/2006/main">
              <a:ext uri="{FF2B5EF4-FFF2-40B4-BE49-F238E27FC236}">
                <a16:creationId xmlns:a16="http://schemas.microsoft.com/office/drawing/2014/main" id="{C1C7203F-EFAE-45C0-9968-81917622D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886325"/>
            <a:ext cx="3238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0" name="task-3-label">
            <a:extLst xmlns:a="http://schemas.openxmlformats.org/drawingml/2006/main">
              <a:ext uri="{FF2B5EF4-FFF2-40B4-BE49-F238E27FC236}">
                <a16:creationId xmlns:a16="http://schemas.microsoft.com/office/drawing/2014/main" id="{BA973362-BAC3-4F88-B056-E4E819990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600700"/>
            <a:ext cx="2857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92B63"/>
                </a:solidFill>
              </a:defRPr>
            </a:pPr>
            <a:r>
              <a:t>архитектура AI</a:t>
            </a:r>
          </a:p>
        </p:txBody>
      </p:sp>
      <p:sp>
        <p:nvSpPr>
          <p:cNvPr id="21" name="task-4-line">
            <a:extLst xmlns:a="http://schemas.openxmlformats.org/drawingml/2006/main">
              <a:ext uri="{FF2B5EF4-FFF2-40B4-BE49-F238E27FC236}">
                <a16:creationId xmlns:a16="http://schemas.microsoft.com/office/drawing/2014/main" id="{54D9F039-7C78-4769-8552-7590AFDAD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5314950"/>
            <a:ext cx="2857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A23A"/>
          </a:solidFill>
        </p:spPr>
      </p:sp>
      <p:sp>
        <p:nvSpPr>
          <p:cNvPr id="22" name="task-4-num">
            <a:extLst xmlns:a="http://schemas.openxmlformats.org/drawingml/2006/main">
              <a:ext uri="{FF2B5EF4-FFF2-40B4-BE49-F238E27FC236}">
                <a16:creationId xmlns:a16="http://schemas.microsoft.com/office/drawing/2014/main" id="{6B8AE00E-B253-445A-8F2D-44095F9A4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4762500"/>
            <a:ext cx="66675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D6A23A"/>
          </a:solidFill>
        </p:spPr>
      </p:sp>
      <p:sp>
        <p:nvSpPr>
          <p:cNvPr id="23" name="task-4-idx">
            <a:extLst xmlns:a="http://schemas.openxmlformats.org/drawingml/2006/main">
              <a:ext uri="{FF2B5EF4-FFF2-40B4-BE49-F238E27FC236}">
                <a16:creationId xmlns:a16="http://schemas.microsoft.com/office/drawing/2014/main" id="{BA50475E-B943-4D7A-9D9F-076387525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4886325"/>
            <a:ext cx="3238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4" name="task-4-label">
            <a:extLst xmlns:a="http://schemas.openxmlformats.org/drawingml/2006/main">
              <a:ext uri="{FF2B5EF4-FFF2-40B4-BE49-F238E27FC236}">
                <a16:creationId xmlns:a16="http://schemas.microsoft.com/office/drawing/2014/main" id="{C7B89002-E855-4D1F-BC16-A2DD58A43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5600700"/>
            <a:ext cx="2857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92B63"/>
                </a:solidFill>
              </a:defRPr>
            </a:pPr>
            <a:r>
              <a:t>интеграция LLM</a:t>
            </a:r>
          </a:p>
        </p:txBody>
      </p:sp>
      <p:sp>
        <p:nvSpPr>
          <p:cNvPr id="25" name="task-5-line">
            <a:extLst xmlns:a="http://schemas.openxmlformats.org/drawingml/2006/main">
              <a:ext uri="{FF2B5EF4-FFF2-40B4-BE49-F238E27FC236}">
                <a16:creationId xmlns:a16="http://schemas.microsoft.com/office/drawing/2014/main" id="{E0272B47-1461-4EFC-B9C6-43B50492D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7429500"/>
            <a:ext cx="57150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92B63"/>
          </a:solidFill>
        </p:spPr>
      </p:sp>
      <p:sp>
        <p:nvSpPr>
          <p:cNvPr id="26" name="task-5-num">
            <a:extLst xmlns:a="http://schemas.openxmlformats.org/drawingml/2006/main">
              <a:ext uri="{FF2B5EF4-FFF2-40B4-BE49-F238E27FC236}">
                <a16:creationId xmlns:a16="http://schemas.microsoft.com/office/drawing/2014/main" id="{A61B8B06-A0CC-4CA3-A96E-C3258101D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877050"/>
            <a:ext cx="66675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092B63"/>
          </a:solidFill>
        </p:spPr>
      </p:sp>
      <p:sp>
        <p:nvSpPr>
          <p:cNvPr id="27" name="task-5-idx">
            <a:extLst xmlns:a="http://schemas.openxmlformats.org/drawingml/2006/main">
              <a:ext uri="{FF2B5EF4-FFF2-40B4-BE49-F238E27FC236}">
                <a16:creationId xmlns:a16="http://schemas.microsoft.com/office/drawing/2014/main" id="{942DE82F-4CF9-4555-9F5B-2D0A2C00D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7000875"/>
            <a:ext cx="3238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8" name="task-5-label">
            <a:extLst xmlns:a="http://schemas.openxmlformats.org/drawingml/2006/main">
              <a:ext uri="{FF2B5EF4-FFF2-40B4-BE49-F238E27FC236}">
                <a16:creationId xmlns:a16="http://schemas.microsoft.com/office/drawing/2014/main" id="{54F758A4-7112-4E1E-8D90-3F2D6781C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7715250"/>
            <a:ext cx="57150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92B63"/>
                </a:solidFill>
              </a:defRPr>
            </a:pPr>
            <a:r>
              <a:t>пилотное тестирование</a:t>
            </a:r>
          </a:p>
        </p:txBody>
      </p:sp>
      <p:sp>
        <p:nvSpPr>
          <p:cNvPr id="29" name="footer-line-3">
            <a:extLst xmlns:a="http://schemas.openxmlformats.org/drawingml/2006/main">
              <a:ext uri="{FF2B5EF4-FFF2-40B4-BE49-F238E27FC236}">
                <a16:creationId xmlns:a16="http://schemas.microsoft.com/office/drawing/2014/main" id="{49557AC5-9646-47FC-B3BB-CB3C87D25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620250"/>
            <a:ext cx="16459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CAD"/>
          </a:solidFill>
        </p:spPr>
      </p:sp>
      <p:sp>
        <p:nvSpPr>
          <p:cNvPr id="30" name="footer-3">
            <a:extLst xmlns:a="http://schemas.openxmlformats.org/drawingml/2006/main">
              <a:ext uri="{FF2B5EF4-FFF2-40B4-BE49-F238E27FC236}">
                <a16:creationId xmlns:a16="http://schemas.microsoft.com/office/drawing/2014/main" id="{F9F88079-108B-4D0E-8F42-C75B15C06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791700"/>
            <a:ext cx="164592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F6D7E"/>
                </a:solidFill>
              </a:defRPr>
            </a:pPr>
            <a:r>
              <a:t>ВКР: обучающая игра-платформер с интеграцией ИИ  |  3</a:t>
            </a:r>
          </a:p>
        </p:txBody>
      </p:sp>
    </p:spTree>
    <p:extLst>
      <p:ext uri="{BB962C8B-B14F-4D97-AF65-F5344CB8AC3E}">
        <p14:creationId xmlns:p14="http://schemas.microsoft.com/office/powerpoint/2010/main" val="194602575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E4AE6FF0-D3DE-4DA9-B14B-1A8032772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F"/>
          </a:solidFill>
        </p:spPr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980EEA24-8304-4D16-A716-871E6EBE4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9600"/>
            <a:ext cx="120015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92B63"/>
                </a:solidFill>
              </a:defRPr>
            </a:pPr>
            <a:r>
              <a:t>Теоретическая база и анализ аналогов</a:t>
            </a:r>
          </a:p>
        </p:txBody>
      </p:sp>
      <p:sp>
        <p:nvSpPr>
          <p:cNvPr id="3" name="subtitle-4">
            <a:extLst xmlns:a="http://schemas.openxmlformats.org/drawingml/2006/main">
              <a:ext uri="{FF2B5EF4-FFF2-40B4-BE49-F238E27FC236}">
                <a16:creationId xmlns:a16="http://schemas.microsoft.com/office/drawing/2014/main" id="{7FE10E79-9FDC-4330-809B-C9A855E3A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66850"/>
            <a:ext cx="13525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F6D7E"/>
                </a:solidFill>
              </a:defRPr>
            </a:pPr>
            <a:r>
              <a:t>Что взято из теории: игровые механики должны быть связаны с учебной целью, а подсказки не должны заменять решение.</a:t>
            </a:r>
          </a:p>
        </p:txBody>
      </p:sp>
      <p:sp>
        <p:nvSpPr>
          <p:cNvPr id="4" name="title-accent-4">
            <a:extLst xmlns:a="http://schemas.openxmlformats.org/drawingml/2006/main">
              <a:ext uri="{FF2B5EF4-FFF2-40B4-BE49-F238E27FC236}">
                <a16:creationId xmlns:a16="http://schemas.microsoft.com/office/drawing/2014/main" id="{C0A41C4F-03B3-49BF-BEE9-2D0612327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2095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8C9"/>
          </a:solidFill>
        </p:spPr>
      </p:sp>
      <p:sp>
        <p:nvSpPr>
          <p:cNvPr id="5" name="theory-1-base">
            <a:extLst xmlns:a="http://schemas.openxmlformats.org/drawingml/2006/main">
              <a:ext uri="{FF2B5EF4-FFF2-40B4-BE49-F238E27FC236}">
                <a16:creationId xmlns:a16="http://schemas.microsoft.com/office/drawing/2014/main" id="{4EBB428E-D5EE-4B0C-A008-0288A415E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76500"/>
            <a:ext cx="4953000" cy="20955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6" name="theory-1-accent">
            <a:extLst xmlns:a="http://schemas.openxmlformats.org/drawingml/2006/main">
              <a:ext uri="{FF2B5EF4-FFF2-40B4-BE49-F238E27FC236}">
                <a16:creationId xmlns:a16="http://schemas.microsoft.com/office/drawing/2014/main" id="{0E50272C-3577-4D89-B7C7-A1BDC53CE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76500"/>
            <a:ext cx="114300" cy="2095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5CAD"/>
          </a:solidFill>
        </p:spPr>
      </p:sp>
      <p:sp>
        <p:nvSpPr>
          <p:cNvPr id="7" name="theory-1-heading">
            <a:extLst xmlns:a="http://schemas.openxmlformats.org/drawingml/2006/main">
              <a:ext uri="{FF2B5EF4-FFF2-40B4-BE49-F238E27FC236}">
                <a16:creationId xmlns:a16="http://schemas.microsoft.com/office/drawing/2014/main" id="{3056A17D-DD31-4A44-9E24-2170F2381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24150"/>
            <a:ext cx="44005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92B63"/>
                </a:solidFill>
              </a:defRPr>
            </a:pPr>
            <a:r>
              <a:t>Игровое обучение</a:t>
            </a:r>
          </a:p>
        </p:txBody>
      </p:sp>
      <p:sp>
        <p:nvSpPr>
          <p:cNvPr id="8" name="theory-1-body">
            <a:extLst xmlns:a="http://schemas.openxmlformats.org/drawingml/2006/main">
              <a:ext uri="{FF2B5EF4-FFF2-40B4-BE49-F238E27FC236}">
                <a16:creationId xmlns:a16="http://schemas.microsoft.com/office/drawing/2014/main" id="{05CAE7C2-3770-4EA6-AA12-21B76E57F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38500"/>
            <a:ext cx="4400550" cy="1181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01827"/>
                </a:solidFill>
              </a:defRPr>
            </a:pPr>
            <a:r>
              <a:t>Прогресс, цели, награды и мгновенный результат помогают удерживать внимание.</a:t>
            </a:r>
          </a:p>
        </p:txBody>
      </p:sp>
      <p:sp>
        <p:nvSpPr>
          <p:cNvPr id="9" name="theory-2-base">
            <a:extLst xmlns:a="http://schemas.openxmlformats.org/drawingml/2006/main">
              <a:ext uri="{FF2B5EF4-FFF2-40B4-BE49-F238E27FC236}">
                <a16:creationId xmlns:a16="http://schemas.microsoft.com/office/drawing/2014/main" id="{42FEA291-97F4-4853-AD73-6D63DA5D2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76500"/>
            <a:ext cx="4953000" cy="20955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0" name="theory-2-accent">
            <a:extLst xmlns:a="http://schemas.openxmlformats.org/drawingml/2006/main">
              <a:ext uri="{FF2B5EF4-FFF2-40B4-BE49-F238E27FC236}">
                <a16:creationId xmlns:a16="http://schemas.microsoft.com/office/drawing/2014/main" id="{97AE54C4-9EA8-4953-B234-52D729E54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76500"/>
            <a:ext cx="114300" cy="2095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B8C9"/>
          </a:solidFill>
        </p:spPr>
      </p:sp>
      <p:sp>
        <p:nvSpPr>
          <p:cNvPr id="11" name="theory-2-heading">
            <a:extLst xmlns:a="http://schemas.openxmlformats.org/drawingml/2006/main">
              <a:ext uri="{FF2B5EF4-FFF2-40B4-BE49-F238E27FC236}">
                <a16:creationId xmlns:a16="http://schemas.microsoft.com/office/drawing/2014/main" id="{845E2A1D-B893-4654-BC40-731752A46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724150"/>
            <a:ext cx="44005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92B63"/>
                </a:solidFill>
              </a:defRPr>
            </a:pPr>
            <a:r>
              <a:t>AI-поддержка</a:t>
            </a:r>
          </a:p>
        </p:txBody>
      </p:sp>
      <p:sp>
        <p:nvSpPr>
          <p:cNvPr id="12" name="theory-2-body">
            <a:extLst xmlns:a="http://schemas.openxmlformats.org/drawingml/2006/main">
              <a:ext uri="{FF2B5EF4-FFF2-40B4-BE49-F238E27FC236}">
                <a16:creationId xmlns:a16="http://schemas.microsoft.com/office/drawing/2014/main" id="{29AFA213-7AE5-43E6-ACDB-B31F77522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238500"/>
            <a:ext cx="4400550" cy="1181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01827"/>
                </a:solidFill>
              </a:defRPr>
            </a:pPr>
            <a:r>
              <a:t>Подсказки и объяснения должны быть контекстными, но не превращаться в готовый ответ.</a:t>
            </a:r>
          </a:p>
        </p:txBody>
      </p:sp>
      <p:sp>
        <p:nvSpPr>
          <p:cNvPr id="13" name="theory-3-base">
            <a:extLst xmlns:a="http://schemas.openxmlformats.org/drawingml/2006/main">
              <a:ext uri="{FF2B5EF4-FFF2-40B4-BE49-F238E27FC236}">
                <a16:creationId xmlns:a16="http://schemas.microsoft.com/office/drawing/2014/main" id="{C02EBBD4-4508-44A0-944D-A64107372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0600" y="2476500"/>
            <a:ext cx="4953000" cy="20955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4" name="theory-3-accent">
            <a:extLst xmlns:a="http://schemas.openxmlformats.org/drawingml/2006/main">
              <a:ext uri="{FF2B5EF4-FFF2-40B4-BE49-F238E27FC236}">
                <a16:creationId xmlns:a16="http://schemas.microsoft.com/office/drawing/2014/main" id="{BE32FDC3-D57C-4EA4-B318-1E9BAB0B0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0600" y="2476500"/>
            <a:ext cx="114300" cy="2095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A23A"/>
          </a:solidFill>
        </p:spPr>
      </p:sp>
      <p:sp>
        <p:nvSpPr>
          <p:cNvPr id="15" name="theory-3-heading">
            <a:extLst xmlns:a="http://schemas.openxmlformats.org/drawingml/2006/main">
              <a:ext uri="{FF2B5EF4-FFF2-40B4-BE49-F238E27FC236}">
                <a16:creationId xmlns:a16="http://schemas.microsoft.com/office/drawing/2014/main" id="{492C4C5E-98B6-4675-BC61-859D4DAB4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4450" y="2724150"/>
            <a:ext cx="44005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92B63"/>
                </a:solidFill>
              </a:defRPr>
            </a:pPr>
            <a:r>
              <a:t>Пробел аналогов</a:t>
            </a:r>
          </a:p>
        </p:txBody>
      </p:sp>
      <p:sp>
        <p:nvSpPr>
          <p:cNvPr id="16" name="theory-3-body">
            <a:extLst xmlns:a="http://schemas.openxmlformats.org/drawingml/2006/main">
              <a:ext uri="{FF2B5EF4-FFF2-40B4-BE49-F238E27FC236}">
                <a16:creationId xmlns:a16="http://schemas.microsoft.com/office/drawing/2014/main" id="{9CDC60A3-0F35-405E-B288-36D56FA55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4450" y="3238500"/>
            <a:ext cx="4400550" cy="1181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01827"/>
                </a:solidFill>
              </a:defRPr>
            </a:pPr>
            <a:r>
              <a:t>CodeCombat, CodinGame, CheckiO, Scratch, Blockly Games и Code.org закрывают разные части задачи, но не всю систему целиком.</a:t>
            </a:r>
          </a:p>
        </p:txBody>
      </p:sp>
      <p:sp>
        <p:nvSpPr>
          <p:cNvPr id="17" name="analogs-table-bg">
            <a:extLst xmlns:a="http://schemas.openxmlformats.org/drawingml/2006/main">
              <a:ext uri="{FF2B5EF4-FFF2-40B4-BE49-F238E27FC236}">
                <a16:creationId xmlns:a16="http://schemas.microsoft.com/office/drawing/2014/main" id="{B142C351-DA52-4A9E-B434-A850E75C5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619750"/>
            <a:ext cx="14859000" cy="2667000"/>
          </a:xfrm>
          <a:prstGeom xmlns:a="http://schemas.openxmlformats.org/drawingml/2006/main" prst="roundRect">
            <a:avLst>
              <a:gd name="adj" fmla="val 7857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8" name="analogs-head">
            <a:extLst xmlns:a="http://schemas.openxmlformats.org/drawingml/2006/main">
              <a:ext uri="{FF2B5EF4-FFF2-40B4-BE49-F238E27FC236}">
                <a16:creationId xmlns:a16="http://schemas.microsoft.com/office/drawing/2014/main" id="{8BA9AC65-84C0-465E-B667-649557786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981700"/>
            <a:ext cx="3429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92B63"/>
                </a:solidFill>
              </a:defRPr>
            </a:pPr>
            <a:r>
              <a:t>Вывод из анализа</a:t>
            </a:r>
          </a:p>
        </p:txBody>
      </p:sp>
      <p:sp>
        <p:nvSpPr>
          <p:cNvPr id="19" name="analogs-text">
            <a:extLst xmlns:a="http://schemas.openxmlformats.org/drawingml/2006/main">
              <a:ext uri="{FF2B5EF4-FFF2-40B4-BE49-F238E27FC236}">
                <a16:creationId xmlns:a16="http://schemas.microsoft.com/office/drawing/2014/main" id="{265B2F7F-4700-4B1A-8DAC-8EF13628D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6629400"/>
            <a:ext cx="1343025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101827"/>
                </a:solidFill>
              </a:defRPr>
            </a:pPr>
            <a:r>
              <a:t>Нужен прототип, где код влияет на прохождение уровня: врагов, сундуки, алтари и босс-сцены. AI здесь выступает не отдельным чат-ботом, а частью учебной логики.</a:t>
            </a:r>
          </a:p>
        </p:txBody>
      </p:sp>
      <p:sp>
        <p:nvSpPr>
          <p:cNvPr id="20" name="footer-line-4">
            <a:extLst xmlns:a="http://schemas.openxmlformats.org/drawingml/2006/main">
              <a:ext uri="{FF2B5EF4-FFF2-40B4-BE49-F238E27FC236}">
                <a16:creationId xmlns:a16="http://schemas.microsoft.com/office/drawing/2014/main" id="{522B5455-79AD-49E1-A53C-539191CD1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620250"/>
            <a:ext cx="16459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CAD"/>
          </a:solidFill>
        </p:spPr>
      </p:sp>
      <p:sp>
        <p:nvSpPr>
          <p:cNvPr id="21" name="footer-4">
            <a:extLst xmlns:a="http://schemas.openxmlformats.org/drawingml/2006/main">
              <a:ext uri="{FF2B5EF4-FFF2-40B4-BE49-F238E27FC236}">
                <a16:creationId xmlns:a16="http://schemas.microsoft.com/office/drawing/2014/main" id="{12284909-34B5-46E4-9BF3-17B21F381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791700"/>
            <a:ext cx="164592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F6D7E"/>
                </a:solidFill>
              </a:defRPr>
            </a:pPr>
            <a:r>
              <a:t>ВКР: обучающая игра-платформер с интеграцией ИИ  |  4</a:t>
            </a:r>
          </a:p>
        </p:txBody>
      </p:sp>
    </p:spTree>
    <p:extLst>
      <p:ext uri="{BB962C8B-B14F-4D97-AF65-F5344CB8AC3E}">
        <p14:creationId xmlns:p14="http://schemas.microsoft.com/office/powerpoint/2010/main" val="87734910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AAA1C549-B2CC-4F18-B235-639225E4F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F"/>
          </a:solidFill>
        </p:spPr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32FACB86-03A3-4F26-9D8D-F73990812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9600"/>
            <a:ext cx="120015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92B63"/>
                </a:solidFill>
              </a:defRPr>
            </a:pPr>
            <a:r>
              <a:t>Концепция продукта: обучение через игровой цикл</a:t>
            </a:r>
          </a:p>
        </p:txBody>
      </p:sp>
      <p:sp>
        <p:nvSpPr>
          <p:cNvPr id="3" name="subtitle-5">
            <a:extLst xmlns:a="http://schemas.openxmlformats.org/drawingml/2006/main">
              <a:ext uri="{FF2B5EF4-FFF2-40B4-BE49-F238E27FC236}">
                <a16:creationId xmlns:a16="http://schemas.microsoft.com/office/drawing/2014/main" id="{1946D79C-5CD8-4D49-BB0C-F3E015EEF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66850"/>
            <a:ext cx="13525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F6D7E"/>
                </a:solidFill>
              </a:defRPr>
            </a:pPr>
            <a:r>
              <a:t>Пользователь не решает задачи отдельно от игры: задание появляется внутри действия уровня.</a:t>
            </a:r>
          </a:p>
        </p:txBody>
      </p:sp>
      <p:sp>
        <p:nvSpPr>
          <p:cNvPr id="4" name="title-accent-5">
            <a:extLst xmlns:a="http://schemas.openxmlformats.org/drawingml/2006/main">
              <a:ext uri="{FF2B5EF4-FFF2-40B4-BE49-F238E27FC236}">
                <a16:creationId xmlns:a16="http://schemas.microsoft.com/office/drawing/2014/main" id="{2C5AC235-0148-436C-8F88-741AA8445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2095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8C9"/>
          </a:solidFill>
        </p:spPr>
      </p:sp>
      <p:pic>
        <p:nvPicPr>
          <p:cNvPr id="5" name="game-loop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508337664241f6"/>
          <a:stretch xmlns:a="http://schemas.openxmlformats.org/drawingml/2006/main"/>
        </p:blipFill>
        <p:spPr>
          <a:xfrm xmlns:a="http://schemas.openxmlformats.org/drawingml/2006/main">
            <a:off x="1370595" y="2428875"/>
            <a:ext cx="8384009" cy="6286500"/>
          </a:xfrm>
          <a:prstGeom xmlns:a="http://schemas.openxmlformats.org/drawingml/2006/main" prst="rect">
            <a:avLst/>
          </a:prstGeom>
        </p:spPr>
      </p:pic>
      <p:sp>
        <p:nvSpPr>
          <p:cNvPr id="6" name="concept-note">
            <a:extLst xmlns:a="http://schemas.openxmlformats.org/drawingml/2006/main">
              <a:ext uri="{FF2B5EF4-FFF2-40B4-BE49-F238E27FC236}">
                <a16:creationId xmlns:a16="http://schemas.microsoft.com/office/drawing/2014/main" id="{17ED9120-63A6-4F99-A8A5-95C84DE8B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781300"/>
            <a:ext cx="6191250" cy="4572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7" name="concept-note-title">
            <a:extLst xmlns:a="http://schemas.openxmlformats.org/drawingml/2006/main">
              <a:ext uri="{FF2B5EF4-FFF2-40B4-BE49-F238E27FC236}">
                <a16:creationId xmlns:a16="http://schemas.microsoft.com/office/drawing/2014/main" id="{64A76788-5896-428F-BAD6-0A0236604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143250"/>
            <a:ext cx="5334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92B63"/>
                </a:solidFill>
              </a:defRPr>
            </a:pPr>
            <a:r>
              <a:t>Ключевая идея</a:t>
            </a:r>
          </a:p>
        </p:txBody>
      </p:sp>
      <p:sp>
        <p:nvSpPr>
          <p:cNvPr id="8" name="concept-note-body">
            <a:extLst xmlns:a="http://schemas.openxmlformats.org/drawingml/2006/main">
              <a:ext uri="{FF2B5EF4-FFF2-40B4-BE49-F238E27FC236}">
                <a16:creationId xmlns:a16="http://schemas.microsoft.com/office/drawing/2014/main" id="{A87748EA-727D-46D3-9F60-0197DF0EC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790950"/>
            <a:ext cx="5334000" cy="2857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101827"/>
                </a:solidFill>
              </a:defRPr>
            </a:pPr>
            <a:r>
              <a:t>Каждая программная конструкция получает игровой смысл:</a:t>
            </a:r>
          </a:p>
          <a:p xmlns:a="http://schemas.openxmlformats.org/drawingml/2006/main">
            <a:pPr>
              <a:defRPr sz="2175">
                <a:solidFill>
                  <a:srgbClr val="101827"/>
                </a:solidFill>
              </a:defRPr>
            </a:pPr>
            <a:r>
              <a:t/>
            </a:r>
          </a:p>
          <a:p xmlns:a="http://schemas.openxmlformats.org/drawingml/2006/main">
            <a:pPr>
              <a:defRPr sz="2175">
                <a:solidFill>
                  <a:srgbClr val="101827"/>
                </a:solidFill>
              </a:defRPr>
            </a:pPr>
            <a:r>
              <a:t>переменная → параметр боя</a:t>
            </a:r>
          </a:p>
          <a:p xmlns:a="http://schemas.openxmlformats.org/drawingml/2006/main">
            <a:pPr>
              <a:defRPr sz="2175">
                <a:solidFill>
                  <a:srgbClr val="101827"/>
                </a:solidFill>
              </a:defRPr>
            </a:pPr>
            <a:r>
              <a:t>условие → выбор действия</a:t>
            </a:r>
          </a:p>
          <a:p xmlns:a="http://schemas.openxmlformats.org/drawingml/2006/main">
            <a:pPr>
              <a:defRPr sz="2175">
                <a:solidFill>
                  <a:srgbClr val="101827"/>
                </a:solidFill>
              </a:defRPr>
            </a:pPr>
            <a:r>
              <a:t>цикл → повторяемая тактика</a:t>
            </a:r>
          </a:p>
          <a:p xmlns:a="http://schemas.openxmlformats.org/drawingml/2006/main">
            <a:pPr>
              <a:defRPr sz="2175">
                <a:solidFill>
                  <a:srgbClr val="101827"/>
                </a:solidFill>
              </a:defRPr>
            </a:pPr>
            <a:r>
              <a:t>функция → переиспользуемый прием</a:t>
            </a:r>
          </a:p>
          <a:p xmlns:a="http://schemas.openxmlformats.org/drawingml/2006/main">
            <a:pPr>
              <a:defRPr sz="2175">
                <a:solidFill>
                  <a:srgbClr val="101827"/>
                </a:solidFill>
              </a:defRPr>
            </a:pPr>
            <a:r>
              <a:t>интеграция → комплексное решение</a:t>
            </a:r>
          </a:p>
        </p:txBody>
      </p:sp>
      <p:sp>
        <p:nvSpPr>
          <p:cNvPr id="9" name="concept-accent">
            <a:extLst xmlns:a="http://schemas.openxmlformats.org/drawingml/2006/main">
              <a:ext uri="{FF2B5EF4-FFF2-40B4-BE49-F238E27FC236}">
                <a16:creationId xmlns:a16="http://schemas.microsoft.com/office/drawing/2014/main" id="{4D81007A-8D85-466A-8C12-8EA16E825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7667625"/>
            <a:ext cx="61912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B8C9"/>
          </a:solidFill>
        </p:spPr>
      </p:sp>
      <p:sp>
        <p:nvSpPr>
          <p:cNvPr id="10" name="footer-line-5">
            <a:extLst xmlns:a="http://schemas.openxmlformats.org/drawingml/2006/main">
              <a:ext uri="{FF2B5EF4-FFF2-40B4-BE49-F238E27FC236}">
                <a16:creationId xmlns:a16="http://schemas.microsoft.com/office/drawing/2014/main" id="{000BE4DB-CF48-4E4F-9C87-4568B20AC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620250"/>
            <a:ext cx="16459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CAD"/>
          </a:solidFill>
        </p:spPr>
      </p:sp>
      <p:sp>
        <p:nvSpPr>
          <p:cNvPr id="11" name="footer-5">
            <a:extLst xmlns:a="http://schemas.openxmlformats.org/drawingml/2006/main">
              <a:ext uri="{FF2B5EF4-FFF2-40B4-BE49-F238E27FC236}">
                <a16:creationId xmlns:a16="http://schemas.microsoft.com/office/drawing/2014/main" id="{D437DBD9-95CF-45C2-BAE7-DC970AF0B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791700"/>
            <a:ext cx="164592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F6D7E"/>
                </a:solidFill>
              </a:defRPr>
            </a:pPr>
            <a:r>
              <a:t>ВКР: обучающая игра-платформер с интеграцией ИИ  |  5</a:t>
            </a:r>
          </a:p>
        </p:txBody>
      </p:sp>
    </p:spTree>
    <p:extLst>
      <p:ext uri="{BB962C8B-B14F-4D97-AF65-F5344CB8AC3E}">
        <p14:creationId xmlns:p14="http://schemas.microsoft.com/office/powerpoint/2010/main" val="28395025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C557A1DF-FCF9-4B24-8F69-A27B80774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F"/>
          </a:solidFill>
        </p:spPr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D38BFA91-F618-47AB-A9F9-69F646B6E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9600"/>
            <a:ext cx="120015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92B63"/>
                </a:solidFill>
              </a:defRPr>
            </a:pPr>
            <a:r>
              <a:t>Архитектура системы</a:t>
            </a:r>
          </a:p>
        </p:txBody>
      </p:sp>
      <p:sp>
        <p:nvSpPr>
          <p:cNvPr id="3" name="subtitle-6">
            <a:extLst xmlns:a="http://schemas.openxmlformats.org/drawingml/2006/main">
              <a:ext uri="{FF2B5EF4-FFF2-40B4-BE49-F238E27FC236}">
                <a16:creationId xmlns:a16="http://schemas.microsoft.com/office/drawing/2014/main" id="{866E95A0-5908-4B47-9F10-057C98DE1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66850"/>
            <a:ext cx="13525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F6D7E"/>
                </a:solidFill>
              </a:defRPr>
            </a:pPr>
            <a:r>
              <a:t>Разделение на Godot-клиент и Python/FastAPI backend позволяет независимо развивать игру и проверку заданий.</a:t>
            </a:r>
          </a:p>
        </p:txBody>
      </p:sp>
      <p:sp>
        <p:nvSpPr>
          <p:cNvPr id="4" name="title-accent-6">
            <a:extLst xmlns:a="http://schemas.openxmlformats.org/drawingml/2006/main">
              <a:ext uri="{FF2B5EF4-FFF2-40B4-BE49-F238E27FC236}">
                <a16:creationId xmlns:a16="http://schemas.microsoft.com/office/drawing/2014/main" id="{E62106E6-3F2E-4E26-8229-D8D6D5689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2095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8C9"/>
          </a:solidFill>
        </p:spPr>
      </p:sp>
      <p:pic>
        <p:nvPicPr>
          <p:cNvPr id="5" name="architectur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16da5faf9f4ad5"/>
          <a:stretch xmlns:a="http://schemas.openxmlformats.org/drawingml/2006/main"/>
        </p:blipFill>
        <p:spPr>
          <a:xfrm xmlns:a="http://schemas.openxmlformats.org/drawingml/2006/main">
            <a:off x="1288430" y="2247900"/>
            <a:ext cx="8853139" cy="6667500"/>
          </a:xfrm>
          <a:prstGeom xmlns:a="http://schemas.openxmlformats.org/drawingml/2006/main" prst="rect">
            <a:avLst/>
          </a:prstGeom>
        </p:spPr>
      </p:pic>
      <p:sp>
        <p:nvSpPr>
          <p:cNvPr id="6" name="arch-1-base">
            <a:extLst xmlns:a="http://schemas.openxmlformats.org/drawingml/2006/main">
              <a:ext uri="{FF2B5EF4-FFF2-40B4-BE49-F238E27FC236}">
                <a16:creationId xmlns:a16="http://schemas.microsoft.com/office/drawing/2014/main" id="{0E92A9B5-C652-412E-8E8D-6293A0279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667000"/>
            <a:ext cx="5619750" cy="16192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7" name="arch-1-accent">
            <a:extLst xmlns:a="http://schemas.openxmlformats.org/drawingml/2006/main">
              <a:ext uri="{FF2B5EF4-FFF2-40B4-BE49-F238E27FC236}">
                <a16:creationId xmlns:a16="http://schemas.microsoft.com/office/drawing/2014/main" id="{FD1CA42C-E884-40D8-A891-A5EB926B2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667000"/>
            <a:ext cx="114300" cy="1619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5CAD"/>
          </a:solidFill>
        </p:spPr>
      </p:sp>
      <p:sp>
        <p:nvSpPr>
          <p:cNvPr id="8" name="arch-1-heading">
            <a:extLst xmlns:a="http://schemas.openxmlformats.org/drawingml/2006/main">
              <a:ext uri="{FF2B5EF4-FFF2-40B4-BE49-F238E27FC236}">
                <a16:creationId xmlns:a16="http://schemas.microsoft.com/office/drawing/2014/main" id="{26D1EDEE-12B6-4CF4-9655-F9C08F912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914650"/>
            <a:ext cx="50673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92B63"/>
                </a:solidFill>
              </a:defRPr>
            </a:pPr>
            <a:r>
              <a:t>Godot 4</a:t>
            </a:r>
          </a:p>
        </p:txBody>
      </p:sp>
      <p:sp>
        <p:nvSpPr>
          <p:cNvPr id="9" name="arch-1-body">
            <a:extLst xmlns:a="http://schemas.openxmlformats.org/drawingml/2006/main">
              <a:ext uri="{FF2B5EF4-FFF2-40B4-BE49-F238E27FC236}">
                <a16:creationId xmlns:a16="http://schemas.microsoft.com/office/drawing/2014/main" id="{33724ECE-D358-4538-B5A7-2DD9D5518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3429000"/>
            <a:ext cx="50673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01827"/>
                </a:solidFill>
              </a:defRPr>
            </a:pPr>
            <a:r>
              <a:t>сцены уровней, персонаж, враги, Combat Terminal, HUD, меню, босс-комнаты</a:t>
            </a:r>
          </a:p>
        </p:txBody>
      </p:sp>
      <p:sp>
        <p:nvSpPr>
          <p:cNvPr id="10" name="arch-2-base">
            <a:extLst xmlns:a="http://schemas.openxmlformats.org/drawingml/2006/main">
              <a:ext uri="{FF2B5EF4-FFF2-40B4-BE49-F238E27FC236}">
                <a16:creationId xmlns:a16="http://schemas.microsoft.com/office/drawing/2014/main" id="{D7343FCF-C1D4-4E66-A5F7-7F1F8EBCE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762500"/>
            <a:ext cx="5619750" cy="16192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1" name="arch-2-accent">
            <a:extLst xmlns:a="http://schemas.openxmlformats.org/drawingml/2006/main">
              <a:ext uri="{FF2B5EF4-FFF2-40B4-BE49-F238E27FC236}">
                <a16:creationId xmlns:a16="http://schemas.microsoft.com/office/drawing/2014/main" id="{B7A87DB2-7C70-4C9C-BD38-03CC6A285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762500"/>
            <a:ext cx="114300" cy="1619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B8C9"/>
          </a:solidFill>
        </p:spPr>
      </p:sp>
      <p:sp>
        <p:nvSpPr>
          <p:cNvPr id="12" name="arch-2-heading">
            <a:extLst xmlns:a="http://schemas.openxmlformats.org/drawingml/2006/main">
              <a:ext uri="{FF2B5EF4-FFF2-40B4-BE49-F238E27FC236}">
                <a16:creationId xmlns:a16="http://schemas.microsoft.com/office/drawing/2014/main" id="{89C51D6A-ECB0-4BEA-A7BC-B928D0045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5010150"/>
            <a:ext cx="50673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92B63"/>
                </a:solidFill>
              </a:defRPr>
            </a:pPr>
            <a:r>
              <a:t>FastAPI</a:t>
            </a:r>
          </a:p>
        </p:txBody>
      </p:sp>
      <p:sp>
        <p:nvSpPr>
          <p:cNvPr id="13" name="arch-2-body">
            <a:extLst xmlns:a="http://schemas.openxmlformats.org/drawingml/2006/main">
              <a:ext uri="{FF2B5EF4-FFF2-40B4-BE49-F238E27FC236}">
                <a16:creationId xmlns:a16="http://schemas.microsoft.com/office/drawing/2014/main" id="{2AF298E3-14BE-4DD1-B452-2E03AE784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5524500"/>
            <a:ext cx="50673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01827"/>
                </a:solidFill>
              </a:defRPr>
            </a:pPr>
            <a:r>
              <a:t>генерация заданий, проверка кода, подсказки, логирование попыток</a:t>
            </a:r>
          </a:p>
        </p:txBody>
      </p:sp>
      <p:sp>
        <p:nvSpPr>
          <p:cNvPr id="14" name="arch-3-base">
            <a:extLst xmlns:a="http://schemas.openxmlformats.org/drawingml/2006/main">
              <a:ext uri="{FF2B5EF4-FFF2-40B4-BE49-F238E27FC236}">
                <a16:creationId xmlns:a16="http://schemas.microsoft.com/office/drawing/2014/main" id="{2355211E-1483-4EE8-BF89-F22F135D6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858000"/>
            <a:ext cx="5619750" cy="16192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5" name="arch-3-accent">
            <a:extLst xmlns:a="http://schemas.openxmlformats.org/drawingml/2006/main">
              <a:ext uri="{FF2B5EF4-FFF2-40B4-BE49-F238E27FC236}">
                <a16:creationId xmlns:a16="http://schemas.microsoft.com/office/drawing/2014/main" id="{F8715CAC-0AE5-45FA-8C3C-F721A2B27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858000"/>
            <a:ext cx="114300" cy="1619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9C68"/>
          </a:solidFill>
        </p:spPr>
      </p:sp>
      <p:sp>
        <p:nvSpPr>
          <p:cNvPr id="16" name="arch-3-heading">
            <a:extLst xmlns:a="http://schemas.openxmlformats.org/drawingml/2006/main">
              <a:ext uri="{FF2B5EF4-FFF2-40B4-BE49-F238E27FC236}">
                <a16:creationId xmlns:a16="http://schemas.microsoft.com/office/drawing/2014/main" id="{8745219C-8D91-403B-A22D-191F5776F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7105650"/>
            <a:ext cx="50673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92B63"/>
                </a:solidFill>
              </a:defRPr>
            </a:pPr>
            <a:r>
              <a:t>Данные</a:t>
            </a:r>
          </a:p>
        </p:txBody>
      </p:sp>
      <p:sp>
        <p:nvSpPr>
          <p:cNvPr id="17" name="arch-3-body">
            <a:extLst xmlns:a="http://schemas.openxmlformats.org/drawingml/2006/main">
              <a:ext uri="{FF2B5EF4-FFF2-40B4-BE49-F238E27FC236}">
                <a16:creationId xmlns:a16="http://schemas.microsoft.com/office/drawing/2014/main" id="{AF5E450D-62AF-46B4-88EB-BF61BEBDC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7620000"/>
            <a:ext cx="50673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01827"/>
                </a:solidFill>
              </a:defRPr>
            </a:pPr>
            <a:r>
              <a:t>логи прохождения и метрики используются для адаптации сложности</a:t>
            </a:r>
          </a:p>
        </p:txBody>
      </p:sp>
      <p:sp>
        <p:nvSpPr>
          <p:cNvPr id="18" name="footer-line-6">
            <a:extLst xmlns:a="http://schemas.openxmlformats.org/drawingml/2006/main">
              <a:ext uri="{FF2B5EF4-FFF2-40B4-BE49-F238E27FC236}">
                <a16:creationId xmlns:a16="http://schemas.microsoft.com/office/drawing/2014/main" id="{D5D3CA84-170B-4599-9988-2AAFDEA0A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620250"/>
            <a:ext cx="16459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CAD"/>
          </a:solidFill>
        </p:spPr>
      </p:sp>
      <p:sp>
        <p:nvSpPr>
          <p:cNvPr id="19" name="footer-6">
            <a:extLst xmlns:a="http://schemas.openxmlformats.org/drawingml/2006/main">
              <a:ext uri="{FF2B5EF4-FFF2-40B4-BE49-F238E27FC236}">
                <a16:creationId xmlns:a16="http://schemas.microsoft.com/office/drawing/2014/main" id="{A849E231-8A2D-44AC-83D1-8E663452E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791700"/>
            <a:ext cx="164592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F6D7E"/>
                </a:solidFill>
              </a:defRPr>
            </a:pPr>
            <a:r>
              <a:t>ВКР: обучающая игра-платформер с интеграцией ИИ  |  6</a:t>
            </a:r>
          </a:p>
        </p:txBody>
      </p:sp>
    </p:spTree>
    <p:extLst>
      <p:ext uri="{BB962C8B-B14F-4D97-AF65-F5344CB8AC3E}">
        <p14:creationId xmlns:p14="http://schemas.microsoft.com/office/powerpoint/2010/main" val="1224429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BD45E409-BE06-45D9-9BED-D5F031511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F"/>
          </a:solidFill>
        </p:spPr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963D22A2-00F7-4F93-B8EF-B9F4A0CA4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9600"/>
            <a:ext cx="120015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92B63"/>
                </a:solidFill>
              </a:defRPr>
            </a:pPr>
            <a:r>
              <a:t>Что реализовано в коде</a:t>
            </a:r>
          </a:p>
        </p:txBody>
      </p:sp>
      <p:sp>
        <p:nvSpPr>
          <p:cNvPr id="3" name="subtitle-7">
            <a:extLst xmlns:a="http://schemas.openxmlformats.org/drawingml/2006/main">
              <a:ext uri="{FF2B5EF4-FFF2-40B4-BE49-F238E27FC236}">
                <a16:creationId xmlns:a16="http://schemas.microsoft.com/office/drawing/2014/main" id="{D5B84016-F4D8-419A-AA8E-5F1392D59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66850"/>
            <a:ext cx="13525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F6D7E"/>
                </a:solidFill>
              </a:defRPr>
            </a:pPr>
            <a:r>
              <a:t>Практическая часть построена как связка игровых сцен, API-клиента и серверных сервисов.</a:t>
            </a:r>
          </a:p>
        </p:txBody>
      </p:sp>
      <p:sp>
        <p:nvSpPr>
          <p:cNvPr id="4" name="title-accent-7">
            <a:extLst xmlns:a="http://schemas.openxmlformats.org/drawingml/2006/main">
              <a:ext uri="{FF2B5EF4-FFF2-40B4-BE49-F238E27FC236}">
                <a16:creationId xmlns:a16="http://schemas.microsoft.com/office/drawing/2014/main" id="{ECE92ECD-2ADD-4C46-8D5F-E3D5E3023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2095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8C9"/>
          </a:solidFill>
        </p:spPr>
      </p:sp>
      <p:sp>
        <p:nvSpPr>
          <p:cNvPr id="5" name="code-left">
            <a:extLst xmlns:a="http://schemas.openxmlformats.org/drawingml/2006/main">
              <a:ext uri="{FF2B5EF4-FFF2-40B4-BE49-F238E27FC236}">
                <a16:creationId xmlns:a16="http://schemas.microsoft.com/office/drawing/2014/main" id="{B0928D4D-6AE8-4BB8-9925-5BEFDAEB0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09850"/>
            <a:ext cx="7429500" cy="5334000"/>
          </a:xfrm>
          <a:prstGeom xmlns:a="http://schemas.openxmlformats.org/drawingml/2006/main" prst="roundRect">
            <a:avLst>
              <a:gd name="adj" fmla="val 3929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6" name="code-left-title">
            <a:extLst xmlns:a="http://schemas.openxmlformats.org/drawingml/2006/main">
              <a:ext uri="{FF2B5EF4-FFF2-40B4-BE49-F238E27FC236}">
                <a16:creationId xmlns:a16="http://schemas.microsoft.com/office/drawing/2014/main" id="{80D3CF01-0DC2-4B08-A867-3377C3CFD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990850"/>
            <a:ext cx="5715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B5CAD"/>
                </a:solidFill>
              </a:defRPr>
            </a:pPr>
            <a:r>
              <a:t>Godot-клиент</a:t>
            </a:r>
          </a:p>
        </p:txBody>
      </p:sp>
      <p:sp>
        <p:nvSpPr>
          <p:cNvPr id="7" name="code-left-body">
            <a:extLst xmlns:a="http://schemas.openxmlformats.org/drawingml/2006/main">
              <a:ext uri="{FF2B5EF4-FFF2-40B4-BE49-F238E27FC236}">
                <a16:creationId xmlns:a16="http://schemas.microsoft.com/office/drawing/2014/main" id="{F499A849-1516-48C9-9DB2-9F75CFC9A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676650"/>
            <a:ext cx="6572250" cy="2857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101827"/>
                </a:solidFill>
              </a:defRPr>
            </a:pPr>
            <a:r>
              <a:t>game.gd — общий игровой поток</a:t>
            </a:r>
          </a:p>
          <a:p xmlns:a="http://schemas.openxmlformats.org/drawingml/2006/main">
            <a:pPr>
              <a:defRPr sz="2025">
                <a:solidFill>
                  <a:srgbClr val="101827"/>
                </a:solidFill>
              </a:defRPr>
            </a:pPr>
            <a:r>
              <a:t>level_layout_generator.gd — генерация уровней</a:t>
            </a:r>
          </a:p>
          <a:p xmlns:a="http://schemas.openxmlformats.org/drawingml/2006/main">
            <a:pPr>
              <a:defRPr sz="2025">
                <a:solidFill>
                  <a:srgbClr val="101827"/>
                </a:solidFill>
              </a:defRPr>
            </a:pPr>
            <a:r>
              <a:t>enemy_encounter.gd / boss_encounter.gd — враги и боссы</a:t>
            </a:r>
          </a:p>
          <a:p xmlns:a="http://schemas.openxmlformats.org/drawingml/2006/main">
            <a:pPr>
              <a:defRPr sz="2025">
                <a:solidFill>
                  <a:srgbClr val="101827"/>
                </a:solidFill>
              </a:defRPr>
            </a:pPr>
            <a:r>
              <a:t>combat_terminal.gd — ввод кода, подсказки, таймер</a:t>
            </a:r>
          </a:p>
          <a:p xmlns:a="http://schemas.openxmlformats.org/drawingml/2006/main">
            <a:pPr>
              <a:defRPr sz="2025">
                <a:solidFill>
                  <a:srgbClr val="101827"/>
                </a:solidFill>
              </a:defRPr>
            </a:pPr>
            <a:r>
              <a:t>code_api_client.gd — HTTP-запросы к backend</a:t>
            </a:r>
          </a:p>
        </p:txBody>
      </p:sp>
      <p:sp>
        <p:nvSpPr>
          <p:cNvPr id="8" name="code-right">
            <a:extLst xmlns:a="http://schemas.openxmlformats.org/drawingml/2006/main">
              <a:ext uri="{FF2B5EF4-FFF2-40B4-BE49-F238E27FC236}">
                <a16:creationId xmlns:a16="http://schemas.microsoft.com/office/drawing/2014/main" id="{CB4B1159-9ADC-4C46-80F2-D962A83C5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609850"/>
            <a:ext cx="7429500" cy="5334000"/>
          </a:xfrm>
          <a:prstGeom xmlns:a="http://schemas.openxmlformats.org/drawingml/2006/main" prst="roundRect">
            <a:avLst>
              <a:gd name="adj" fmla="val 3929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9" name="code-right-title">
            <a:extLst xmlns:a="http://schemas.openxmlformats.org/drawingml/2006/main">
              <a:ext uri="{FF2B5EF4-FFF2-40B4-BE49-F238E27FC236}">
                <a16:creationId xmlns:a16="http://schemas.microsoft.com/office/drawing/2014/main" id="{EF503E68-AD6E-4F3D-B525-DD6E55E02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990850"/>
            <a:ext cx="5715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B8C9"/>
                </a:solidFill>
              </a:defRPr>
            </a:pPr>
            <a:r>
              <a:t>Backend-сервис</a:t>
            </a:r>
          </a:p>
        </p:txBody>
      </p:sp>
      <p:sp>
        <p:nvSpPr>
          <p:cNvPr id="10" name="code-right-body">
            <a:extLst xmlns:a="http://schemas.openxmlformats.org/drawingml/2006/main">
              <a:ext uri="{FF2B5EF4-FFF2-40B4-BE49-F238E27FC236}">
                <a16:creationId xmlns:a16="http://schemas.microsoft.com/office/drawing/2014/main" id="{3CE91431-6AD4-49A8-A7AD-5D29D07D0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676650"/>
            <a:ext cx="6572250" cy="2857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101827"/>
                </a:solidFill>
              </a:defRPr>
            </a:pPr>
            <a:r>
              <a:t>main.py — API-эндпоинты</a:t>
            </a:r>
          </a:p>
          <a:p xmlns:a="http://schemas.openxmlformats.org/drawingml/2006/main">
            <a:pPr>
              <a:defRPr sz="2025">
                <a:solidFill>
                  <a:srgbClr val="101827"/>
                </a:solidFill>
              </a:defRPr>
            </a:pPr>
            <a:r>
              <a:t>validator.py — синтаксис, тема, семантика</a:t>
            </a:r>
          </a:p>
          <a:p xmlns:a="http://schemas.openxmlformats.org/drawingml/2006/main">
            <a:pPr>
              <a:defRPr sz="2025">
                <a:solidFill>
                  <a:srgbClr val="101827"/>
                </a:solidFill>
              </a:defRPr>
            </a:pPr>
            <a:r>
              <a:t>tasks.py — генерация заданий и fallback</a:t>
            </a:r>
          </a:p>
          <a:p xmlns:a="http://schemas.openxmlformats.org/drawingml/2006/main">
            <a:pPr>
              <a:defRPr sz="2025">
                <a:solidFill>
                  <a:srgbClr val="101827"/>
                </a:solidFill>
              </a:defRPr>
            </a:pPr>
            <a:r>
              <a:t>llm.py — обращение к LLM и обработка ответа</a:t>
            </a:r>
          </a:p>
          <a:p xmlns:a="http://schemas.openxmlformats.org/drawingml/2006/main">
            <a:pPr>
              <a:defRPr sz="2025">
                <a:solidFill>
                  <a:srgbClr val="101827"/>
                </a:solidFill>
              </a:defRPr>
            </a:pPr>
            <a:r>
              <a:t>logger.py — сбор логов и экспорт XLSX</a:t>
            </a:r>
          </a:p>
        </p:txBody>
      </p:sp>
      <p:sp>
        <p:nvSpPr>
          <p:cNvPr id="11" name="pipeline">
            <a:extLst xmlns:a="http://schemas.openxmlformats.org/drawingml/2006/main">
              <a:ext uri="{FF2B5EF4-FFF2-40B4-BE49-F238E27FC236}">
                <a16:creationId xmlns:a16="http://schemas.microsoft.com/office/drawing/2014/main" id="{2503323C-9089-4407-B192-665A5B99E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7429500"/>
            <a:ext cx="1318260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FBFF"/>
          </a:solidFill>
        </p:spPr>
      </p:sp>
      <p:sp>
        <p:nvSpPr>
          <p:cNvPr id="12" name="pipeline-text">
            <a:extLst xmlns:a="http://schemas.openxmlformats.org/drawingml/2006/main">
              <a:ext uri="{FF2B5EF4-FFF2-40B4-BE49-F238E27FC236}">
                <a16:creationId xmlns:a16="http://schemas.microsoft.com/office/drawing/2014/main" id="{3BEE7AE2-2E66-4642-BE6D-3CEC8B575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7620000"/>
            <a:ext cx="12382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92B63"/>
                </a:solidFill>
              </a:defRPr>
            </a:pPr>
            <a:r>
              <a:t>Combat Terminal → /tasks/generate → /validate или /hints → результат → изменение состояния игры</a:t>
            </a:r>
          </a:p>
        </p:txBody>
      </p:sp>
      <p:sp>
        <p:nvSpPr>
          <p:cNvPr id="13" name="footer-line-7">
            <a:extLst xmlns:a="http://schemas.openxmlformats.org/drawingml/2006/main">
              <a:ext uri="{FF2B5EF4-FFF2-40B4-BE49-F238E27FC236}">
                <a16:creationId xmlns:a16="http://schemas.microsoft.com/office/drawing/2014/main" id="{54A6B0DE-78C4-4166-BBD2-F50DEA58C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620250"/>
            <a:ext cx="16459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CAD"/>
          </a:solidFill>
        </p:spPr>
      </p:sp>
      <p:sp>
        <p:nvSpPr>
          <p:cNvPr id="14" name="footer-7">
            <a:extLst xmlns:a="http://schemas.openxmlformats.org/drawingml/2006/main">
              <a:ext uri="{FF2B5EF4-FFF2-40B4-BE49-F238E27FC236}">
                <a16:creationId xmlns:a16="http://schemas.microsoft.com/office/drawing/2014/main" id="{3D8C47D3-EB4A-461B-A800-6514EB280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791700"/>
            <a:ext cx="164592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F6D7E"/>
                </a:solidFill>
              </a:defRPr>
            </a:pPr>
            <a:r>
              <a:t>ВКР: обучающая игра-платформер с интеграцией ИИ  |  7</a:t>
            </a:r>
          </a:p>
        </p:txBody>
      </p:sp>
    </p:spTree>
    <p:extLst>
      <p:ext uri="{BB962C8B-B14F-4D97-AF65-F5344CB8AC3E}">
        <p14:creationId xmlns:p14="http://schemas.microsoft.com/office/powerpoint/2010/main" val="204227886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AED3C18C-BD6D-4132-8059-743F4AE82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F"/>
          </a:solidFill>
        </p:spPr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32189E56-1952-4E62-9C03-233A21A36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9600"/>
            <a:ext cx="120015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92B63"/>
                </a:solidFill>
              </a:defRPr>
            </a:pPr>
            <a:r>
              <a:t>Учебная структура уровней</a:t>
            </a:r>
          </a:p>
        </p:txBody>
      </p:sp>
      <p:sp>
        <p:nvSpPr>
          <p:cNvPr id="3" name="subtitle-8">
            <a:extLst xmlns:a="http://schemas.openxmlformats.org/drawingml/2006/main">
              <a:ext uri="{FF2B5EF4-FFF2-40B4-BE49-F238E27FC236}">
                <a16:creationId xmlns:a16="http://schemas.microsoft.com/office/drawing/2014/main" id="{CCCAA4A9-DE9E-46AB-A7B5-468F7DFD1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66850"/>
            <a:ext cx="13525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F6D7E"/>
                </a:solidFill>
              </a:defRPr>
            </a:pPr>
            <a:r>
              <a:t>Уровни идут от простых конструкций к комбинированным задачам.</a:t>
            </a:r>
          </a:p>
        </p:txBody>
      </p:sp>
      <p:sp>
        <p:nvSpPr>
          <p:cNvPr id="4" name="title-accent-8">
            <a:extLst xmlns:a="http://schemas.openxmlformats.org/drawingml/2006/main">
              <a:ext uri="{FF2B5EF4-FFF2-40B4-BE49-F238E27FC236}">
                <a16:creationId xmlns:a16="http://schemas.microsoft.com/office/drawing/2014/main" id="{D34ABCC2-C43C-48F1-80A7-DFA33146F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2095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8C9"/>
          </a:solidFill>
        </p:spPr>
      </p:sp>
      <p:sp>
        <p:nvSpPr>
          <p:cNvPr id="5" name="lvl-1-line">
            <a:extLst xmlns:a="http://schemas.openxmlformats.org/drawingml/2006/main">
              <a:ext uri="{FF2B5EF4-FFF2-40B4-BE49-F238E27FC236}">
                <a16:creationId xmlns:a16="http://schemas.microsoft.com/office/drawing/2014/main" id="{05137902-0EE7-4E6E-AAE4-4BEB7CF98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09950"/>
            <a:ext cx="30480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5CAD"/>
          </a:solidFill>
        </p:spPr>
      </p:sp>
      <p:sp>
        <p:nvSpPr>
          <p:cNvPr id="6" name="lvl-1-num">
            <a:extLst xmlns:a="http://schemas.openxmlformats.org/drawingml/2006/main">
              <a:ext uri="{FF2B5EF4-FFF2-40B4-BE49-F238E27FC236}">
                <a16:creationId xmlns:a16="http://schemas.microsoft.com/office/drawing/2014/main" id="{8F2E3113-2EA1-4BB0-8598-111FA072B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57500"/>
            <a:ext cx="66675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0B5CAD"/>
          </a:solidFill>
        </p:spPr>
      </p:sp>
      <p:sp>
        <p:nvSpPr>
          <p:cNvPr id="7" name="lvl-1-idx">
            <a:extLst xmlns:a="http://schemas.openxmlformats.org/drawingml/2006/main">
              <a:ext uri="{FF2B5EF4-FFF2-40B4-BE49-F238E27FC236}">
                <a16:creationId xmlns:a16="http://schemas.microsoft.com/office/drawing/2014/main" id="{D73EEFE7-5374-4B8B-B0C6-98EF17416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981325"/>
            <a:ext cx="3238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lvl-1-label">
            <a:extLst xmlns:a="http://schemas.openxmlformats.org/drawingml/2006/main">
              <a:ext uri="{FF2B5EF4-FFF2-40B4-BE49-F238E27FC236}">
                <a16:creationId xmlns:a16="http://schemas.microsoft.com/office/drawing/2014/main" id="{9C476E04-7058-449A-AE0C-842B2F5C2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95700"/>
            <a:ext cx="30480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92B63"/>
                </a:solidFill>
              </a:defRPr>
            </a:pPr>
            <a:r>
              <a:t>Variables</a:t>
            </a:r>
          </a:p>
          <a:p xmlns:a="http://schemas.openxmlformats.org/drawingml/2006/main">
            <a:pPr>
              <a:defRPr sz="1800" b="1">
                <a:solidFill>
                  <a:srgbClr val="092B63"/>
                </a:solidFill>
              </a:defRPr>
            </a:pPr>
            <a:r>
              <a:t>присваивание значений</a:t>
            </a:r>
          </a:p>
        </p:txBody>
      </p:sp>
      <p:sp>
        <p:nvSpPr>
          <p:cNvPr id="9" name="lvl-2-line">
            <a:extLst xmlns:a="http://schemas.openxmlformats.org/drawingml/2006/main">
              <a:ext uri="{FF2B5EF4-FFF2-40B4-BE49-F238E27FC236}">
                <a16:creationId xmlns:a16="http://schemas.microsoft.com/office/drawing/2014/main" id="{8C8E6E90-F74D-47CC-8D53-501E433CF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409950"/>
            <a:ext cx="30480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B8C9"/>
          </a:solidFill>
        </p:spPr>
      </p:sp>
      <p:sp>
        <p:nvSpPr>
          <p:cNvPr id="10" name="lvl-2-num">
            <a:extLst xmlns:a="http://schemas.openxmlformats.org/drawingml/2006/main">
              <a:ext uri="{FF2B5EF4-FFF2-40B4-BE49-F238E27FC236}">
                <a16:creationId xmlns:a16="http://schemas.microsoft.com/office/drawing/2014/main" id="{69AC5825-33D5-4F13-9160-A146DCAFD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857500"/>
            <a:ext cx="66675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16B8C9"/>
          </a:solidFill>
        </p:spPr>
      </p:sp>
      <p:sp>
        <p:nvSpPr>
          <p:cNvPr id="11" name="lvl-2-idx">
            <a:extLst xmlns:a="http://schemas.openxmlformats.org/drawingml/2006/main">
              <a:ext uri="{FF2B5EF4-FFF2-40B4-BE49-F238E27FC236}">
                <a16:creationId xmlns:a16="http://schemas.microsoft.com/office/drawing/2014/main" id="{FBBB91BA-B80C-4358-90EC-240434AD7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81325"/>
            <a:ext cx="3238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lvl-2-label">
            <a:extLst xmlns:a="http://schemas.openxmlformats.org/drawingml/2006/main">
              <a:ext uri="{FF2B5EF4-FFF2-40B4-BE49-F238E27FC236}">
                <a16:creationId xmlns:a16="http://schemas.microsoft.com/office/drawing/2014/main" id="{D5A8B6EE-D004-4499-AB50-449613885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695700"/>
            <a:ext cx="30480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92B63"/>
                </a:solidFill>
              </a:defRPr>
            </a:pPr>
            <a:r>
              <a:t>If / Else</a:t>
            </a:r>
          </a:p>
          <a:p xmlns:a="http://schemas.openxmlformats.org/drawingml/2006/main">
            <a:pPr>
              <a:defRPr sz="1800" b="1">
                <a:solidFill>
                  <a:srgbClr val="092B63"/>
                </a:solidFill>
              </a:defRPr>
            </a:pPr>
            <a:r>
              <a:t>ветвление действий</a:t>
            </a:r>
          </a:p>
        </p:txBody>
      </p:sp>
      <p:sp>
        <p:nvSpPr>
          <p:cNvPr id="13" name="lvl-3-line">
            <a:extLst xmlns:a="http://schemas.openxmlformats.org/drawingml/2006/main">
              <a:ext uri="{FF2B5EF4-FFF2-40B4-BE49-F238E27FC236}">
                <a16:creationId xmlns:a16="http://schemas.microsoft.com/office/drawing/2014/main" id="{A11BB947-91B7-4008-AD3F-A430E9990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409950"/>
            <a:ext cx="30480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9C68"/>
          </a:solidFill>
        </p:spPr>
      </p:sp>
      <p:sp>
        <p:nvSpPr>
          <p:cNvPr id="14" name="lvl-3-num">
            <a:extLst xmlns:a="http://schemas.openxmlformats.org/drawingml/2006/main">
              <a:ext uri="{FF2B5EF4-FFF2-40B4-BE49-F238E27FC236}">
                <a16:creationId xmlns:a16="http://schemas.microsoft.com/office/drawing/2014/main" id="{3734FCAC-A3B2-470C-817B-D24203B81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857500"/>
            <a:ext cx="66675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1B9C68"/>
          </a:solidFill>
        </p:spPr>
      </p:sp>
      <p:sp>
        <p:nvSpPr>
          <p:cNvPr id="15" name="lvl-3-idx">
            <a:extLst xmlns:a="http://schemas.openxmlformats.org/drawingml/2006/main">
              <a:ext uri="{FF2B5EF4-FFF2-40B4-BE49-F238E27FC236}">
                <a16:creationId xmlns:a16="http://schemas.microsoft.com/office/drawing/2014/main" id="{1F2B1AEB-4240-4A48-A465-49708A283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981325"/>
            <a:ext cx="3238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6" name="lvl-3-label">
            <a:extLst xmlns:a="http://schemas.openxmlformats.org/drawingml/2006/main">
              <a:ext uri="{FF2B5EF4-FFF2-40B4-BE49-F238E27FC236}">
                <a16:creationId xmlns:a16="http://schemas.microsoft.com/office/drawing/2014/main" id="{4E4F3251-4A2E-4BEE-84DF-A7A4983C0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695700"/>
            <a:ext cx="30480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92B63"/>
                </a:solidFill>
              </a:defRPr>
            </a:pPr>
            <a:r>
              <a:t>Loops</a:t>
            </a:r>
          </a:p>
          <a:p xmlns:a="http://schemas.openxmlformats.org/drawingml/2006/main">
            <a:pPr>
              <a:defRPr sz="1800" b="1">
                <a:solidFill>
                  <a:srgbClr val="092B63"/>
                </a:solidFill>
              </a:defRPr>
            </a:pPr>
            <a:r>
              <a:t>повторение действий</a:t>
            </a:r>
          </a:p>
        </p:txBody>
      </p:sp>
      <p:sp>
        <p:nvSpPr>
          <p:cNvPr id="17" name="lvl-4-line">
            <a:extLst xmlns:a="http://schemas.openxmlformats.org/drawingml/2006/main">
              <a:ext uri="{FF2B5EF4-FFF2-40B4-BE49-F238E27FC236}">
                <a16:creationId xmlns:a16="http://schemas.microsoft.com/office/drawing/2014/main" id="{EFAC2E70-84F5-469A-ADE2-499D15261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409950"/>
            <a:ext cx="30480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A23A"/>
          </a:solidFill>
        </p:spPr>
      </p:sp>
      <p:sp>
        <p:nvSpPr>
          <p:cNvPr id="18" name="lvl-4-num">
            <a:extLst xmlns:a="http://schemas.openxmlformats.org/drawingml/2006/main">
              <a:ext uri="{FF2B5EF4-FFF2-40B4-BE49-F238E27FC236}">
                <a16:creationId xmlns:a16="http://schemas.microsoft.com/office/drawing/2014/main" id="{9899C49D-308F-4A5C-A28A-6995AA669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0"/>
            <a:ext cx="66675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D6A23A"/>
          </a:solidFill>
        </p:spPr>
      </p:sp>
      <p:sp>
        <p:nvSpPr>
          <p:cNvPr id="19" name="lvl-4-idx">
            <a:extLst xmlns:a="http://schemas.openxmlformats.org/drawingml/2006/main">
              <a:ext uri="{FF2B5EF4-FFF2-40B4-BE49-F238E27FC236}">
                <a16:creationId xmlns:a16="http://schemas.microsoft.com/office/drawing/2014/main" id="{697F90C4-397F-4952-95C5-D552E1D89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981325"/>
            <a:ext cx="3238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0" name="lvl-4-label">
            <a:extLst xmlns:a="http://schemas.openxmlformats.org/drawingml/2006/main">
              <a:ext uri="{FF2B5EF4-FFF2-40B4-BE49-F238E27FC236}">
                <a16:creationId xmlns:a16="http://schemas.microsoft.com/office/drawing/2014/main" id="{848CF25D-B180-4EFD-B1DB-B50313C3B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695700"/>
            <a:ext cx="30480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92B63"/>
                </a:solidFill>
              </a:defRPr>
            </a:pPr>
            <a:r>
              <a:t>Functions</a:t>
            </a:r>
          </a:p>
          <a:p xmlns:a="http://schemas.openxmlformats.org/drawingml/2006/main">
            <a:pPr>
              <a:defRPr sz="1800" b="1">
                <a:solidFill>
                  <a:srgbClr val="092B63"/>
                </a:solidFill>
              </a:defRPr>
            </a:pPr>
            <a:r>
              <a:t>переиспользование логики</a:t>
            </a:r>
          </a:p>
        </p:txBody>
      </p:sp>
      <p:sp>
        <p:nvSpPr>
          <p:cNvPr id="21" name="lvl-5-line">
            <a:extLst xmlns:a="http://schemas.openxmlformats.org/drawingml/2006/main">
              <a:ext uri="{FF2B5EF4-FFF2-40B4-BE49-F238E27FC236}">
                <a16:creationId xmlns:a16="http://schemas.microsoft.com/office/drawing/2014/main" id="{90E6C4F5-D4F2-451D-851E-EA0697FB9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0350" y="3409950"/>
            <a:ext cx="30480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92B63"/>
          </a:solidFill>
        </p:spPr>
      </p:sp>
      <p:sp>
        <p:nvSpPr>
          <p:cNvPr id="22" name="lvl-5-num">
            <a:extLst xmlns:a="http://schemas.openxmlformats.org/drawingml/2006/main">
              <a:ext uri="{FF2B5EF4-FFF2-40B4-BE49-F238E27FC236}">
                <a16:creationId xmlns:a16="http://schemas.microsoft.com/office/drawing/2014/main" id="{981456A1-D4B6-464B-BC09-22269B818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0350" y="2857500"/>
            <a:ext cx="66675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092B63"/>
          </a:solidFill>
        </p:spPr>
      </p:sp>
      <p:sp>
        <p:nvSpPr>
          <p:cNvPr id="23" name="lvl-5-idx">
            <a:extLst xmlns:a="http://schemas.openxmlformats.org/drawingml/2006/main">
              <a:ext uri="{FF2B5EF4-FFF2-40B4-BE49-F238E27FC236}">
                <a16:creationId xmlns:a16="http://schemas.microsoft.com/office/drawing/2014/main" id="{46BEBBC3-7512-4916-A5FA-64691B884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1800" y="2981325"/>
            <a:ext cx="3238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4" name="lvl-5-label">
            <a:extLst xmlns:a="http://schemas.openxmlformats.org/drawingml/2006/main">
              <a:ext uri="{FF2B5EF4-FFF2-40B4-BE49-F238E27FC236}">
                <a16:creationId xmlns:a16="http://schemas.microsoft.com/office/drawing/2014/main" id="{A3581ED0-DAB4-4431-8FBB-CF5FCE997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0350" y="3695700"/>
            <a:ext cx="30480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92B63"/>
                </a:solidFill>
              </a:defRPr>
            </a:pPr>
            <a:r>
              <a:t>Integration</a:t>
            </a:r>
          </a:p>
          <a:p xmlns:a="http://schemas.openxmlformats.org/drawingml/2006/main">
            <a:pPr>
              <a:defRPr sz="1800" b="1">
                <a:solidFill>
                  <a:srgbClr val="092B63"/>
                </a:solidFill>
              </a:defRPr>
            </a:pPr>
            <a:r>
              <a:t>комбинация тем</a:t>
            </a:r>
          </a:p>
        </p:txBody>
      </p:sp>
      <p:sp>
        <p:nvSpPr>
          <p:cNvPr id="25" name="interactions-bg">
            <a:extLst xmlns:a="http://schemas.openxmlformats.org/drawingml/2006/main">
              <a:ext uri="{FF2B5EF4-FFF2-40B4-BE49-F238E27FC236}">
                <a16:creationId xmlns:a16="http://schemas.microsoft.com/office/drawing/2014/main" id="{8F4B38BD-E87E-44EA-8905-F533C3B2F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6096000"/>
            <a:ext cx="14325600" cy="2000250"/>
          </a:xfrm>
          <a:prstGeom xmlns:a="http://schemas.openxmlformats.org/drawingml/2006/main" prst="roundRect">
            <a:avLst>
              <a:gd name="adj" fmla="val 1238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6" name="interactions-title">
            <a:extLst xmlns:a="http://schemas.openxmlformats.org/drawingml/2006/main">
              <a:ext uri="{FF2B5EF4-FFF2-40B4-BE49-F238E27FC236}">
                <a16:creationId xmlns:a16="http://schemas.microsoft.com/office/drawing/2014/main" id="{9A8B1428-3F19-4A97-BFE7-3D3C90103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6419850"/>
            <a:ext cx="4762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92B63"/>
                </a:solidFill>
              </a:defRPr>
            </a:pPr>
            <a:r>
              <a:t>Типы учебных взаимодействий</a:t>
            </a:r>
          </a:p>
        </p:txBody>
      </p:sp>
      <p:sp>
        <p:nvSpPr>
          <p:cNvPr id="27" name="interactions-body">
            <a:extLst xmlns:a="http://schemas.openxmlformats.org/drawingml/2006/main">
              <a:ext uri="{FF2B5EF4-FFF2-40B4-BE49-F238E27FC236}">
                <a16:creationId xmlns:a16="http://schemas.microsoft.com/office/drawing/2014/main" id="{42CB295A-0B25-45B1-B8DA-2BADE22DC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7067550"/>
            <a:ext cx="129540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101827"/>
                </a:solidFill>
              </a:defRPr>
            </a:pPr>
            <a:r>
              <a:t>combat — урон врагу · chest — открытие награды · altar — настройка оружия · boss — итоговая проверка темы</a:t>
            </a:r>
          </a:p>
        </p:txBody>
      </p:sp>
      <p:sp>
        <p:nvSpPr>
          <p:cNvPr id="28" name="footer-line-8">
            <a:extLst xmlns:a="http://schemas.openxmlformats.org/drawingml/2006/main">
              <a:ext uri="{FF2B5EF4-FFF2-40B4-BE49-F238E27FC236}">
                <a16:creationId xmlns:a16="http://schemas.microsoft.com/office/drawing/2014/main" id="{97EF9DB8-7FC8-4B6D-B77E-D78A4068B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620250"/>
            <a:ext cx="16459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CAD"/>
          </a:solidFill>
        </p:spPr>
      </p:sp>
      <p:sp>
        <p:nvSpPr>
          <p:cNvPr id="29" name="footer-8">
            <a:extLst xmlns:a="http://schemas.openxmlformats.org/drawingml/2006/main">
              <a:ext uri="{FF2B5EF4-FFF2-40B4-BE49-F238E27FC236}">
                <a16:creationId xmlns:a16="http://schemas.microsoft.com/office/drawing/2014/main" id="{DE1C4370-CDB8-4971-96C4-410BB8595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791700"/>
            <a:ext cx="164592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F6D7E"/>
                </a:solidFill>
              </a:defRPr>
            </a:pPr>
            <a:r>
              <a:t>ВКР: обучающая игра-платформер с интеграцией ИИ  |  8</a:t>
            </a:r>
          </a:p>
        </p:txBody>
      </p:sp>
    </p:spTree>
    <p:extLst>
      <p:ext uri="{BB962C8B-B14F-4D97-AF65-F5344CB8AC3E}">
        <p14:creationId xmlns:p14="http://schemas.microsoft.com/office/powerpoint/2010/main" val="139439624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78D06E93-10D8-4591-A914-7452E593B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F"/>
          </a:solidFill>
        </p:spPr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A20EEED7-AE2D-4F11-BB9E-79A1E94DA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9600"/>
            <a:ext cx="120015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92B63"/>
                </a:solidFill>
              </a:defRPr>
            </a:pPr>
            <a:r>
              <a:t>AI-модуль: подсказки, проверка и адаптация</a:t>
            </a:r>
          </a:p>
        </p:txBody>
      </p:sp>
      <p:sp>
        <p:nvSpPr>
          <p:cNvPr id="3" name="subtitle-9">
            <a:extLst xmlns:a="http://schemas.openxmlformats.org/drawingml/2006/main">
              <a:ext uri="{FF2B5EF4-FFF2-40B4-BE49-F238E27FC236}">
                <a16:creationId xmlns:a16="http://schemas.microsoft.com/office/drawing/2014/main" id="{7328BF6F-05C4-43FD-9171-2C7836E45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66850"/>
            <a:ext cx="13525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F6D7E"/>
                </a:solidFill>
              </a:defRPr>
            </a:pPr>
            <a:r>
              <a:t>В текущем прототипе AI-логика гибридная: правила и fallback работают всегда, LLM подключается при наличии ключа.</a:t>
            </a:r>
          </a:p>
        </p:txBody>
      </p:sp>
      <p:sp>
        <p:nvSpPr>
          <p:cNvPr id="4" name="title-accent-9">
            <a:extLst xmlns:a="http://schemas.openxmlformats.org/drawingml/2006/main">
              <a:ext uri="{FF2B5EF4-FFF2-40B4-BE49-F238E27FC236}">
                <a16:creationId xmlns:a16="http://schemas.microsoft.com/office/drawing/2014/main" id="{8838AA4D-06A2-4B1C-BB75-D3518F1AE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2095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8C9"/>
          </a:solidFill>
        </p:spPr>
      </p:sp>
      <p:pic>
        <p:nvPicPr>
          <p:cNvPr id="5" name="ai-modul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5ca35deb044a56"/>
          <a:stretch xmlns:a="http://schemas.openxmlformats.org/drawingml/2006/main"/>
        </p:blipFill>
        <p:spPr>
          <a:xfrm xmlns:a="http://schemas.openxmlformats.org/drawingml/2006/main">
            <a:off x="851709" y="2324100"/>
            <a:ext cx="9288433" cy="6572250"/>
          </a:xfrm>
          <a:prstGeom xmlns:a="http://schemas.openxmlformats.org/drawingml/2006/main" prst="rect">
            <a:avLst/>
          </a:prstGeom>
        </p:spPr>
      </p:pic>
      <p:sp>
        <p:nvSpPr>
          <p:cNvPr id="6" name="ai-1-base">
            <a:extLst xmlns:a="http://schemas.openxmlformats.org/drawingml/2006/main">
              <a:ext uri="{FF2B5EF4-FFF2-40B4-BE49-F238E27FC236}">
                <a16:creationId xmlns:a16="http://schemas.microsoft.com/office/drawing/2014/main" id="{32262389-4C5E-419D-A6B0-E0CC79DFB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647950"/>
            <a:ext cx="561975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7" name="ai-1-accent">
            <a:extLst xmlns:a="http://schemas.openxmlformats.org/drawingml/2006/main">
              <a:ext uri="{FF2B5EF4-FFF2-40B4-BE49-F238E27FC236}">
                <a16:creationId xmlns:a16="http://schemas.microsoft.com/office/drawing/2014/main" id="{70E34F64-0099-4020-9EFE-0B19C7B6A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647950"/>
            <a:ext cx="114300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5CAD"/>
          </a:solidFill>
        </p:spPr>
      </p:sp>
      <p:sp>
        <p:nvSpPr>
          <p:cNvPr id="8" name="ai-1-heading">
            <a:extLst xmlns:a="http://schemas.openxmlformats.org/drawingml/2006/main">
              <a:ext uri="{FF2B5EF4-FFF2-40B4-BE49-F238E27FC236}">
                <a16:creationId xmlns:a16="http://schemas.microsoft.com/office/drawing/2014/main" id="{754D5E41-2091-4A2A-A8DE-5370DE3D8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2895600"/>
            <a:ext cx="50673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92B63"/>
                </a:solidFill>
              </a:defRPr>
            </a:pPr>
            <a:r>
              <a:t>Проверка</a:t>
            </a:r>
          </a:p>
        </p:txBody>
      </p:sp>
      <p:sp>
        <p:nvSpPr>
          <p:cNvPr id="9" name="ai-1-body">
            <a:extLst xmlns:a="http://schemas.openxmlformats.org/drawingml/2006/main">
              <a:ext uri="{FF2B5EF4-FFF2-40B4-BE49-F238E27FC236}">
                <a16:creationId xmlns:a16="http://schemas.microsoft.com/office/drawing/2014/main" id="{9843CC0D-035F-4F3A-AB13-11CD1AD92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3409950"/>
            <a:ext cx="50673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01827"/>
                </a:solidFill>
              </a:defRPr>
            </a:pPr>
            <a:r>
              <a:t>AST-разбор, синтаксис, тема уровня, ключевые понятия и игровые эффекты</a:t>
            </a:r>
          </a:p>
        </p:txBody>
      </p:sp>
      <p:sp>
        <p:nvSpPr>
          <p:cNvPr id="10" name="ai-2-base">
            <a:extLst xmlns:a="http://schemas.openxmlformats.org/drawingml/2006/main">
              <a:ext uri="{FF2B5EF4-FFF2-40B4-BE49-F238E27FC236}">
                <a16:creationId xmlns:a16="http://schemas.microsoft.com/office/drawing/2014/main" id="{21485EED-6BD7-444E-A2C9-822ACE176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476750"/>
            <a:ext cx="561975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1" name="ai-2-accent">
            <a:extLst xmlns:a="http://schemas.openxmlformats.org/drawingml/2006/main">
              <a:ext uri="{FF2B5EF4-FFF2-40B4-BE49-F238E27FC236}">
                <a16:creationId xmlns:a16="http://schemas.microsoft.com/office/drawing/2014/main" id="{6F35A442-7322-481B-AE5C-68B785BDB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476750"/>
            <a:ext cx="114300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B8C9"/>
          </a:solidFill>
        </p:spPr>
      </p:sp>
      <p:sp>
        <p:nvSpPr>
          <p:cNvPr id="12" name="ai-2-heading">
            <a:extLst xmlns:a="http://schemas.openxmlformats.org/drawingml/2006/main">
              <a:ext uri="{FF2B5EF4-FFF2-40B4-BE49-F238E27FC236}">
                <a16:creationId xmlns:a16="http://schemas.microsoft.com/office/drawing/2014/main" id="{C1399F1B-7ABA-4D30-BB55-945B75E50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4724400"/>
            <a:ext cx="50673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92B63"/>
                </a:solidFill>
              </a:defRPr>
            </a:pPr>
            <a:r>
              <a:t>Подсказки</a:t>
            </a:r>
          </a:p>
        </p:txBody>
      </p:sp>
      <p:sp>
        <p:nvSpPr>
          <p:cNvPr id="13" name="ai-2-body">
            <a:extLst xmlns:a="http://schemas.openxmlformats.org/drawingml/2006/main">
              <a:ext uri="{FF2B5EF4-FFF2-40B4-BE49-F238E27FC236}">
                <a16:creationId xmlns:a16="http://schemas.microsoft.com/office/drawing/2014/main" id="{213653AD-7917-4C65-9D3D-2BD776B2F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5238750"/>
            <a:ext cx="50673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01827"/>
                </a:solidFill>
              </a:defRPr>
            </a:pPr>
            <a:r>
              <a:t>помогают найти ошибку, но не дают финальное решение</a:t>
            </a:r>
          </a:p>
        </p:txBody>
      </p:sp>
      <p:sp>
        <p:nvSpPr>
          <p:cNvPr id="14" name="ai-3-base">
            <a:extLst xmlns:a="http://schemas.openxmlformats.org/drawingml/2006/main">
              <a:ext uri="{FF2B5EF4-FFF2-40B4-BE49-F238E27FC236}">
                <a16:creationId xmlns:a16="http://schemas.microsoft.com/office/drawing/2014/main" id="{3998E7A0-5D1F-4566-A077-E809EA904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61975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5" name="ai-3-accent">
            <a:extLst xmlns:a="http://schemas.openxmlformats.org/drawingml/2006/main">
              <a:ext uri="{FF2B5EF4-FFF2-40B4-BE49-F238E27FC236}">
                <a16:creationId xmlns:a16="http://schemas.microsoft.com/office/drawing/2014/main" id="{F2D78DC3-2432-4EDE-B34A-39A0D8259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114300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9C68"/>
          </a:solidFill>
        </p:spPr>
      </p:sp>
      <p:sp>
        <p:nvSpPr>
          <p:cNvPr id="16" name="ai-3-heading">
            <a:extLst xmlns:a="http://schemas.openxmlformats.org/drawingml/2006/main">
              <a:ext uri="{FF2B5EF4-FFF2-40B4-BE49-F238E27FC236}">
                <a16:creationId xmlns:a16="http://schemas.microsoft.com/office/drawing/2014/main" id="{5D80C97E-167E-4767-A557-70B879DA0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553200"/>
            <a:ext cx="50673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92B63"/>
                </a:solidFill>
              </a:defRPr>
            </a:pPr>
            <a:r>
              <a:t>Адаптация</a:t>
            </a:r>
          </a:p>
        </p:txBody>
      </p:sp>
      <p:sp>
        <p:nvSpPr>
          <p:cNvPr id="17" name="ai-3-body">
            <a:extLst xmlns:a="http://schemas.openxmlformats.org/drawingml/2006/main">
              <a:ext uri="{FF2B5EF4-FFF2-40B4-BE49-F238E27FC236}">
                <a16:creationId xmlns:a16="http://schemas.microsoft.com/office/drawing/2014/main" id="{68D0D202-B949-4997-B59D-E0B05B797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7067550"/>
            <a:ext cx="50673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01827"/>
                </a:solidFill>
              </a:defRPr>
            </a:pPr>
            <a:r>
              <a:t>успех, время и ошибки влияют на рекомендуемую сложность</a:t>
            </a:r>
          </a:p>
        </p:txBody>
      </p:sp>
      <p:sp>
        <p:nvSpPr>
          <p:cNvPr id="18" name="footer-line-9">
            <a:extLst xmlns:a="http://schemas.openxmlformats.org/drawingml/2006/main">
              <a:ext uri="{FF2B5EF4-FFF2-40B4-BE49-F238E27FC236}">
                <a16:creationId xmlns:a16="http://schemas.microsoft.com/office/drawing/2014/main" id="{EA5FDC09-A62C-407F-9003-366411D4C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620250"/>
            <a:ext cx="16459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CAD"/>
          </a:solidFill>
        </p:spPr>
      </p:sp>
      <p:sp>
        <p:nvSpPr>
          <p:cNvPr id="19" name="footer-9">
            <a:extLst xmlns:a="http://schemas.openxmlformats.org/drawingml/2006/main">
              <a:ext uri="{FF2B5EF4-FFF2-40B4-BE49-F238E27FC236}">
                <a16:creationId xmlns:a16="http://schemas.microsoft.com/office/drawing/2014/main" id="{8BF1A5F5-954C-4DBE-8CC7-5EE8BABB3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791700"/>
            <a:ext cx="164592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F6D7E"/>
                </a:solidFill>
              </a:defRPr>
            </a:pPr>
            <a:r>
              <a:t>ВКР: обучающая игра-платформер с интеграцией ИИ  |  9</a:t>
            </a:r>
          </a:p>
        </p:txBody>
      </p:sp>
    </p:spTree>
    <p:extLst>
      <p:ext uri="{BB962C8B-B14F-4D97-AF65-F5344CB8AC3E}">
        <p14:creationId xmlns:p14="http://schemas.microsoft.com/office/powerpoint/2010/main" val="71091174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3F00C141-AA14-493F-B627-219EEE965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F"/>
          </a:solidFill>
        </p:spPr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A2394FBB-1E62-4B61-B2FE-F4D72D86E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9600"/>
            <a:ext cx="120015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92B63"/>
                </a:solidFill>
              </a:defRPr>
            </a:pPr>
            <a:r>
              <a:t>Демонстрация пользовательского сценария</a:t>
            </a:r>
          </a:p>
        </p:txBody>
      </p:sp>
      <p:sp>
        <p:nvSpPr>
          <p:cNvPr id="3" name="subtitle-10">
            <a:extLst xmlns:a="http://schemas.openxmlformats.org/drawingml/2006/main">
              <a:ext uri="{FF2B5EF4-FFF2-40B4-BE49-F238E27FC236}">
                <a16:creationId xmlns:a16="http://schemas.microsoft.com/office/drawing/2014/main" id="{8228BB9B-48C4-45F5-BCC8-FC3FFA240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66850"/>
            <a:ext cx="13525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F6D7E"/>
                </a:solidFill>
              </a:defRPr>
            </a:pPr>
            <a:r>
              <a:t>На защите лучше показать полный путь: уровень → терминал → проверка → изменение игрового состояния.</a:t>
            </a:r>
          </a:p>
        </p:txBody>
      </p:sp>
      <p:sp>
        <p:nvSpPr>
          <p:cNvPr id="4" name="title-accent-10">
            <a:extLst xmlns:a="http://schemas.openxmlformats.org/drawingml/2006/main">
              <a:ext uri="{FF2B5EF4-FFF2-40B4-BE49-F238E27FC236}">
                <a16:creationId xmlns:a16="http://schemas.microsoft.com/office/drawing/2014/main" id="{120BB102-8C7D-4EE4-B4EF-BEB679EB7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2095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8C9"/>
          </a:solidFill>
        </p:spPr>
      </p:sp>
      <p:pic>
        <p:nvPicPr>
          <p:cNvPr id="5" name="demo-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9ec2f10b8748a6"/>
          <a:srcRect xmlns:a="http://schemas.openxmlformats.org/drawingml/2006/main" l="0" t="54" r="0" b="5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4400" y="2533650"/>
            <a:ext cx="5143500" cy="3048000"/>
          </a:xfrm>
          <a:prstGeom xmlns:a="http://schemas.openxmlformats.org/drawingml/2006/main" prst="rect">
            <a:avLst/>
          </a:prstGeom>
        </p:spPr>
      </p:pic>
      <p:pic>
        <p:nvPicPr>
          <p:cNvPr id="6" name="demo-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81cea028084a58"/>
          <a:srcRect xmlns:a="http://schemas.openxmlformats.org/drawingml/2006/main" l="0" t="2788" r="0" b="27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2250" y="2533650"/>
            <a:ext cx="5143500" cy="3048000"/>
          </a:xfrm>
          <a:prstGeom xmlns:a="http://schemas.openxmlformats.org/drawingml/2006/main" prst="rect">
            <a:avLst/>
          </a:prstGeom>
        </p:spPr>
      </p:pic>
      <p:pic>
        <p:nvPicPr>
          <p:cNvPr id="7" name="demo-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3c731e69ef44cb"/>
          <a:srcRect xmlns:a="http://schemas.openxmlformats.org/drawingml/2006/main" l="0" t="267" r="0" b="2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230100" y="2533650"/>
            <a:ext cx="5143500" cy="3048000"/>
          </a:xfrm>
          <a:prstGeom xmlns:a="http://schemas.openxmlformats.org/drawingml/2006/main" prst="rect">
            <a:avLst/>
          </a:prstGeom>
        </p:spPr>
      </p:pic>
      <p:sp>
        <p:nvSpPr>
          <p:cNvPr id="8" name="demo-label-1">
            <a:extLst xmlns:a="http://schemas.openxmlformats.org/drawingml/2006/main">
              <a:ext uri="{FF2B5EF4-FFF2-40B4-BE49-F238E27FC236}">
                <a16:creationId xmlns:a16="http://schemas.microsoft.com/office/drawing/2014/main" id="{72BD6D22-75C6-4593-A044-B0DF5A7D0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962650"/>
            <a:ext cx="4762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92B63"/>
                </a:solidFill>
              </a:defRPr>
            </a:pPr>
            <a:r>
              <a:t>1. Прохождение уровня</a:t>
            </a:r>
          </a:p>
        </p:txBody>
      </p:sp>
      <p:sp>
        <p:nvSpPr>
          <p:cNvPr id="9" name="demo-label-2">
            <a:extLst xmlns:a="http://schemas.openxmlformats.org/drawingml/2006/main">
              <a:ext uri="{FF2B5EF4-FFF2-40B4-BE49-F238E27FC236}">
                <a16:creationId xmlns:a16="http://schemas.microsoft.com/office/drawing/2014/main" id="{BD54713E-F193-4DC4-B915-6B18CDB4D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962650"/>
            <a:ext cx="4762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92B63"/>
                </a:solidFill>
              </a:defRPr>
            </a:pPr>
            <a:r>
              <a:t>2. Combat Terminal</a:t>
            </a:r>
          </a:p>
        </p:txBody>
      </p:sp>
      <p:sp>
        <p:nvSpPr>
          <p:cNvPr id="10" name="demo-label-3">
            <a:extLst xmlns:a="http://schemas.openxmlformats.org/drawingml/2006/main">
              <a:ext uri="{FF2B5EF4-FFF2-40B4-BE49-F238E27FC236}">
                <a16:creationId xmlns:a16="http://schemas.microsoft.com/office/drawing/2014/main" id="{435EF021-863E-4240-8188-823F46CEA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9650" y="5962650"/>
            <a:ext cx="4762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92B63"/>
                </a:solidFill>
              </a:defRPr>
            </a:pPr>
            <a:r>
              <a:t>3. Успех влияет на игру</a:t>
            </a:r>
          </a:p>
        </p:txBody>
      </p:sp>
      <p:sp>
        <p:nvSpPr>
          <p:cNvPr id="11" name="demo-note">
            <a:extLst xmlns:a="http://schemas.openxmlformats.org/drawingml/2006/main">
              <a:ext uri="{FF2B5EF4-FFF2-40B4-BE49-F238E27FC236}">
                <a16:creationId xmlns:a16="http://schemas.microsoft.com/office/drawing/2014/main" id="{828EB1C9-015F-4C02-A28F-0A88D47E3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7239000"/>
            <a:ext cx="13754100" cy="990600"/>
          </a:xfrm>
          <a:prstGeom xmlns:a="http://schemas.openxmlformats.org/drawingml/2006/main" prst="roundRect">
            <a:avLst>
              <a:gd name="adj" fmla="val 21154"/>
            </a:avLst>
          </a:prstGeom>
          <a:solidFill xmlns:a="http://schemas.openxmlformats.org/drawingml/2006/main">
            <a:srgbClr val="E8FBFF"/>
          </a:solidFill>
        </p:spPr>
      </p:sp>
      <p:sp>
        <p:nvSpPr>
          <p:cNvPr id="12" name="demo-note-text">
            <a:extLst xmlns:a="http://schemas.openxmlformats.org/drawingml/2006/main">
              <a:ext uri="{FF2B5EF4-FFF2-40B4-BE49-F238E27FC236}">
                <a16:creationId xmlns:a16="http://schemas.microsoft.com/office/drawing/2014/main" id="{986D99E2-B15B-4FA0-9CE6-8B7F24A70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7524750"/>
            <a:ext cx="12954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92B63"/>
                </a:solidFill>
              </a:defRPr>
            </a:pPr>
            <a:r>
              <a:t>Главная демонстрационная мысль: код не просто проверяется, а становится действием в игровом мире.</a:t>
            </a:r>
          </a:p>
        </p:txBody>
      </p:sp>
      <p:sp>
        <p:nvSpPr>
          <p:cNvPr id="13" name="footer-line-10">
            <a:extLst xmlns:a="http://schemas.openxmlformats.org/drawingml/2006/main">
              <a:ext uri="{FF2B5EF4-FFF2-40B4-BE49-F238E27FC236}">
                <a16:creationId xmlns:a16="http://schemas.microsoft.com/office/drawing/2014/main" id="{8076EE11-B635-4E9B-9F9C-1A71F4103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620250"/>
            <a:ext cx="16459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CAD"/>
          </a:solidFill>
        </p:spPr>
      </p:sp>
      <p:sp>
        <p:nvSpPr>
          <p:cNvPr id="14" name="footer-10">
            <a:extLst xmlns:a="http://schemas.openxmlformats.org/drawingml/2006/main">
              <a:ext uri="{FF2B5EF4-FFF2-40B4-BE49-F238E27FC236}">
                <a16:creationId xmlns:a16="http://schemas.microsoft.com/office/drawing/2014/main" id="{AF5DACE2-802E-4BA4-AC45-13DCCD95E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791700"/>
            <a:ext cx="164592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F6D7E"/>
                </a:solidFill>
              </a:defRPr>
            </a:pPr>
            <a:r>
              <a:t>ВКР: обучающая игра-платформер с интеграцией ИИ  |  10</a:t>
            </a:r>
          </a:p>
        </p:txBody>
      </p:sp>
    </p:spTree>
    <p:extLst>
      <p:ext uri="{BB962C8B-B14F-4D97-AF65-F5344CB8AC3E}">
        <p14:creationId xmlns:p14="http://schemas.microsoft.com/office/powerpoint/2010/main" val="162418053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AA0735B5-178A-4E5A-B0AC-633FF9C9C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F"/>
          </a:solidFill>
        </p:spPr>
      </p:sp>
      <p:sp>
        <p:nvSpPr>
          <p:cNvPr id="2" name="title-11">
            <a:extLst xmlns:a="http://schemas.openxmlformats.org/drawingml/2006/main">
              <a:ext uri="{FF2B5EF4-FFF2-40B4-BE49-F238E27FC236}">
                <a16:creationId xmlns:a16="http://schemas.microsoft.com/office/drawing/2014/main" id="{89CB5F06-528D-4CB1-AB9F-F2FD09746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9600"/>
            <a:ext cx="120015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92B63"/>
                </a:solidFill>
              </a:defRPr>
            </a:pPr>
            <a:r>
              <a:t>Результаты тестирования</a:t>
            </a:r>
          </a:p>
        </p:txBody>
      </p:sp>
      <p:sp>
        <p:nvSpPr>
          <p:cNvPr id="3" name="subtitle-11">
            <a:extLst xmlns:a="http://schemas.openxmlformats.org/drawingml/2006/main">
              <a:ext uri="{FF2B5EF4-FFF2-40B4-BE49-F238E27FC236}">
                <a16:creationId xmlns:a16="http://schemas.microsoft.com/office/drawing/2014/main" id="{D575171B-C7E8-41CE-8421-9EE59A677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66850"/>
            <a:ext cx="13525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F6D7E"/>
                </a:solidFill>
              </a:defRPr>
            </a:pPr>
            <a:r>
              <a:t>Проверка выполнялась по логам тестовых прохождений: важны не только запуск игры, но и поведение игрока в заданиях.</a:t>
            </a:r>
          </a:p>
        </p:txBody>
      </p:sp>
      <p:sp>
        <p:nvSpPr>
          <p:cNvPr id="4" name="title-accent-11">
            <a:extLst xmlns:a="http://schemas.openxmlformats.org/drawingml/2006/main">
              <a:ext uri="{FF2B5EF4-FFF2-40B4-BE49-F238E27FC236}">
                <a16:creationId xmlns:a16="http://schemas.microsoft.com/office/drawing/2014/main" id="{550F1FB2-27EE-4BCD-89AD-197F9D368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2095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8C9"/>
          </a:solidFill>
        </p:spPr>
      </p:sp>
      <p:sp>
        <p:nvSpPr>
          <p:cNvPr id="5" name="m1-value">
            <a:extLst xmlns:a="http://schemas.openxmlformats.org/drawingml/2006/main">
              <a:ext uri="{FF2B5EF4-FFF2-40B4-BE49-F238E27FC236}">
                <a16:creationId xmlns:a16="http://schemas.microsoft.com/office/drawing/2014/main" id="{3190E58B-B332-4F53-B5D1-59C7A3F63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571750"/>
            <a:ext cx="2857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0B5CAD"/>
                </a:solidFill>
              </a:defRPr>
            </a:pPr>
            <a:r>
              <a:t>15</a:t>
            </a:r>
          </a:p>
        </p:txBody>
      </p:sp>
      <p:sp>
        <p:nvSpPr>
          <p:cNvPr id="6" name="m1-label">
            <a:extLst xmlns:a="http://schemas.openxmlformats.org/drawingml/2006/main">
              <a:ext uri="{FF2B5EF4-FFF2-40B4-BE49-F238E27FC236}">
                <a16:creationId xmlns:a16="http://schemas.microsoft.com/office/drawing/2014/main" id="{128F25C4-F0C0-4B64-BEFB-8F2696979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57550"/>
            <a:ext cx="28575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F6D7E"/>
                </a:solidFill>
              </a:defRPr>
            </a:pPr>
            <a:r>
              <a:t>анонимных профилей логов</a:t>
            </a:r>
          </a:p>
        </p:txBody>
      </p:sp>
      <p:sp>
        <p:nvSpPr>
          <p:cNvPr id="7" name="m2-value">
            <a:extLst xmlns:a="http://schemas.openxmlformats.org/drawingml/2006/main">
              <a:ext uri="{FF2B5EF4-FFF2-40B4-BE49-F238E27FC236}">
                <a16:creationId xmlns:a16="http://schemas.microsoft.com/office/drawing/2014/main" id="{E3DB2458-A61E-4778-8C01-8B73177A3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571750"/>
            <a:ext cx="2857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6B8C9"/>
                </a:solidFill>
              </a:defRPr>
            </a:pPr>
            <a:r>
              <a:t>72</a:t>
            </a:r>
          </a:p>
        </p:txBody>
      </p:sp>
      <p:sp>
        <p:nvSpPr>
          <p:cNvPr id="8" name="m2-label">
            <a:extLst xmlns:a="http://schemas.openxmlformats.org/drawingml/2006/main">
              <a:ext uri="{FF2B5EF4-FFF2-40B4-BE49-F238E27FC236}">
                <a16:creationId xmlns:a16="http://schemas.microsoft.com/office/drawing/2014/main" id="{8B947A96-EBD2-41B0-9E35-1D86DF7D3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257550"/>
            <a:ext cx="28575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F6D7E"/>
                </a:solidFill>
              </a:defRPr>
            </a:pPr>
            <a:r>
              <a:t>игровые сессии</a:t>
            </a:r>
          </a:p>
        </p:txBody>
      </p:sp>
      <p:sp>
        <p:nvSpPr>
          <p:cNvPr id="9" name="m3-value">
            <a:extLst xmlns:a="http://schemas.openxmlformats.org/drawingml/2006/main">
              <a:ext uri="{FF2B5EF4-FFF2-40B4-BE49-F238E27FC236}">
                <a16:creationId xmlns:a16="http://schemas.microsoft.com/office/drawing/2014/main" id="{00B9DC4A-15BD-4EE5-A80A-2F372D521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95750"/>
            <a:ext cx="2857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B9C68"/>
                </a:solidFill>
              </a:defRPr>
            </a:pPr>
            <a:r>
              <a:t>573</a:t>
            </a:r>
          </a:p>
        </p:txBody>
      </p:sp>
      <p:sp>
        <p:nvSpPr>
          <p:cNvPr id="10" name="m3-label">
            <a:extLst xmlns:a="http://schemas.openxmlformats.org/drawingml/2006/main">
              <a:ext uri="{FF2B5EF4-FFF2-40B4-BE49-F238E27FC236}">
                <a16:creationId xmlns:a16="http://schemas.microsoft.com/office/drawing/2014/main" id="{C898258B-BE4E-4CAE-B0AE-DB8C410A1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81550"/>
            <a:ext cx="28575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F6D7E"/>
                </a:solidFill>
              </a:defRPr>
            </a:pPr>
            <a:r>
              <a:t>попытки проверки кода</a:t>
            </a:r>
          </a:p>
        </p:txBody>
      </p:sp>
      <p:sp>
        <p:nvSpPr>
          <p:cNvPr id="11" name="m4-value">
            <a:extLst xmlns:a="http://schemas.openxmlformats.org/drawingml/2006/main">
              <a:ext uri="{FF2B5EF4-FFF2-40B4-BE49-F238E27FC236}">
                <a16:creationId xmlns:a16="http://schemas.microsoft.com/office/drawing/2014/main" id="{82A299D6-7980-4698-8121-159E1A6AC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095750"/>
            <a:ext cx="2857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D6A23A"/>
                </a:solidFill>
              </a:defRPr>
            </a:pPr>
            <a:r>
              <a:t>317</a:t>
            </a:r>
          </a:p>
        </p:txBody>
      </p:sp>
      <p:sp>
        <p:nvSpPr>
          <p:cNvPr id="12" name="m4-label">
            <a:extLst xmlns:a="http://schemas.openxmlformats.org/drawingml/2006/main">
              <a:ext uri="{FF2B5EF4-FFF2-40B4-BE49-F238E27FC236}">
                <a16:creationId xmlns:a16="http://schemas.microsoft.com/office/drawing/2014/main" id="{CFEED772-C2F9-44C6-AAFF-5CC0C342C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781550"/>
            <a:ext cx="28575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F6D7E"/>
                </a:solidFill>
              </a:defRPr>
            </a:pPr>
            <a:r>
              <a:t>успешные проверки</a:t>
            </a:r>
          </a:p>
        </p:txBody>
      </p:sp>
      <p:sp>
        <p:nvSpPr>
          <p:cNvPr id="13" name="test-chart-bg">
            <a:extLst xmlns:a="http://schemas.openxmlformats.org/drawingml/2006/main">
              <a:ext uri="{FF2B5EF4-FFF2-40B4-BE49-F238E27FC236}">
                <a16:creationId xmlns:a16="http://schemas.microsoft.com/office/drawing/2014/main" id="{CA013274-A900-4871-A7C7-FCF62E3A2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71750"/>
            <a:ext cx="8763000" cy="49530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4" name="test-chart-title">
            <a:extLst xmlns:a="http://schemas.openxmlformats.org/drawingml/2006/main">
              <a:ext uri="{FF2B5EF4-FFF2-40B4-BE49-F238E27FC236}">
                <a16:creationId xmlns:a16="http://schemas.microsoft.com/office/drawing/2014/main" id="{41BD35E2-C6DA-4E03-A6F3-5B9D6083E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933700"/>
            <a:ext cx="4953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92B63"/>
                </a:solidFill>
              </a:defRPr>
            </a:pPr>
            <a:r>
              <a:t>Успешность по темам</a:t>
            </a:r>
          </a:p>
        </p:txBody>
      </p:sp>
      <p:sp>
        <p:nvSpPr>
          <p:cNvPr id="15" name="test-chart-note">
            <a:extLst xmlns:a="http://schemas.openxmlformats.org/drawingml/2006/main">
              <a:ext uri="{FF2B5EF4-FFF2-40B4-BE49-F238E27FC236}">
                <a16:creationId xmlns:a16="http://schemas.microsoft.com/office/drawing/2014/main" id="{3D9690F6-C165-49D3-867A-1B74A503A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429000"/>
            <a:ext cx="7048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F6D7E"/>
                </a:solidFill>
              </a:defRPr>
            </a:pPr>
            <a:r>
              <a:t>Самые сложные зоны: интеграция тем и босс-задания.</a:t>
            </a:r>
          </a:p>
        </p:txBody>
      </p:sp>
      <p:sp>
        <p:nvSpPr>
          <p:cNvPr id="16" name="bar-label-0">
            <a:extLst xmlns:a="http://schemas.openxmlformats.org/drawingml/2006/main">
              <a:ext uri="{FF2B5EF4-FFF2-40B4-BE49-F238E27FC236}">
                <a16:creationId xmlns:a16="http://schemas.microsoft.com/office/drawing/2014/main" id="{7F3A9B57-E597-4BBF-8DB5-A205F20F8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686300"/>
            <a:ext cx="2095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01827"/>
                </a:solidFill>
              </a:defRPr>
            </a:pPr>
            <a:r>
              <a:t>Переменные</a:t>
            </a:r>
          </a:p>
        </p:txBody>
      </p:sp>
      <p:sp>
        <p:nvSpPr>
          <p:cNvPr id="17" name="bar-bg-0">
            <a:extLst xmlns:a="http://schemas.openxmlformats.org/drawingml/2006/main">
              <a:ext uri="{FF2B5EF4-FFF2-40B4-BE49-F238E27FC236}">
                <a16:creationId xmlns:a16="http://schemas.microsoft.com/office/drawing/2014/main" id="{BBE3CB67-73F0-421F-85E8-D3FE5C56C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762500"/>
            <a:ext cx="4095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DE8F7"/>
          </a:solidFill>
        </p:spPr>
      </p:sp>
      <p:sp>
        <p:nvSpPr>
          <p:cNvPr id="18" name="bar-0">
            <a:extLst xmlns:a="http://schemas.openxmlformats.org/drawingml/2006/main">
              <a:ext uri="{FF2B5EF4-FFF2-40B4-BE49-F238E27FC236}">
                <a16:creationId xmlns:a16="http://schemas.microsoft.com/office/drawing/2014/main" id="{ADE01210-A9DF-431C-9381-3D7CCC52A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762500"/>
            <a:ext cx="3594021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B5CAD"/>
          </a:solidFill>
        </p:spPr>
      </p:sp>
      <p:sp>
        <p:nvSpPr>
          <p:cNvPr id="19" name="bar-value-0">
            <a:extLst xmlns:a="http://schemas.openxmlformats.org/drawingml/2006/main">
              <a:ext uri="{FF2B5EF4-FFF2-40B4-BE49-F238E27FC236}">
                <a16:creationId xmlns:a16="http://schemas.microsoft.com/office/drawing/2014/main" id="{E876CA3C-1D6A-4486-9302-6A15C3D59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78050" y="4714875"/>
            <a:ext cx="114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92B63"/>
                </a:solidFill>
              </a:defRPr>
            </a:pPr>
            <a:r>
              <a:t>70.2%</a:t>
            </a:r>
          </a:p>
        </p:txBody>
      </p:sp>
      <p:sp>
        <p:nvSpPr>
          <p:cNvPr id="20" name="bar-label-1">
            <a:extLst xmlns:a="http://schemas.openxmlformats.org/drawingml/2006/main">
              <a:ext uri="{FF2B5EF4-FFF2-40B4-BE49-F238E27FC236}">
                <a16:creationId xmlns:a16="http://schemas.microsoft.com/office/drawing/2014/main" id="{D5FB319B-08E6-4C6C-A09B-12284980F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295900"/>
            <a:ext cx="2095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01827"/>
                </a:solidFill>
              </a:defRPr>
            </a:pPr>
            <a:r>
              <a:t>Условия</a:t>
            </a:r>
          </a:p>
        </p:txBody>
      </p:sp>
      <p:sp>
        <p:nvSpPr>
          <p:cNvPr id="21" name="bar-bg-1">
            <a:extLst xmlns:a="http://schemas.openxmlformats.org/drawingml/2006/main">
              <a:ext uri="{FF2B5EF4-FFF2-40B4-BE49-F238E27FC236}">
                <a16:creationId xmlns:a16="http://schemas.microsoft.com/office/drawing/2014/main" id="{7F035083-8B95-4D2B-8D43-292F78221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372100"/>
            <a:ext cx="4095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DE8F7"/>
          </a:solidFill>
        </p:spPr>
      </p:sp>
      <p:sp>
        <p:nvSpPr>
          <p:cNvPr id="22" name="bar-1">
            <a:extLst xmlns:a="http://schemas.openxmlformats.org/drawingml/2006/main">
              <a:ext uri="{FF2B5EF4-FFF2-40B4-BE49-F238E27FC236}">
                <a16:creationId xmlns:a16="http://schemas.microsoft.com/office/drawing/2014/main" id="{0BEEC123-9627-4151-B695-EA3D67909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372100"/>
            <a:ext cx="2687836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6B8C9"/>
          </a:solidFill>
        </p:spPr>
      </p:sp>
      <p:sp>
        <p:nvSpPr>
          <p:cNvPr id="23" name="bar-value-1">
            <a:extLst xmlns:a="http://schemas.openxmlformats.org/drawingml/2006/main">
              <a:ext uri="{FF2B5EF4-FFF2-40B4-BE49-F238E27FC236}">
                <a16:creationId xmlns:a16="http://schemas.microsoft.com/office/drawing/2014/main" id="{F4243B85-5F19-4C6F-8377-9EF9A89CD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78050" y="5324475"/>
            <a:ext cx="114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92B63"/>
                </a:solidFill>
              </a:defRPr>
            </a:pPr>
            <a:r>
              <a:t>52.5%</a:t>
            </a:r>
          </a:p>
        </p:txBody>
      </p:sp>
      <p:sp>
        <p:nvSpPr>
          <p:cNvPr id="24" name="bar-label-2">
            <a:extLst xmlns:a="http://schemas.openxmlformats.org/drawingml/2006/main">
              <a:ext uri="{FF2B5EF4-FFF2-40B4-BE49-F238E27FC236}">
                <a16:creationId xmlns:a16="http://schemas.microsoft.com/office/drawing/2014/main" id="{A9CB434B-7850-4A43-8AD6-578F7CD25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905500"/>
            <a:ext cx="2095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01827"/>
                </a:solidFill>
              </a:defRPr>
            </a:pPr>
            <a:r>
              <a:t>Циклы</a:t>
            </a:r>
          </a:p>
        </p:txBody>
      </p:sp>
      <p:sp>
        <p:nvSpPr>
          <p:cNvPr id="25" name="bar-bg-2">
            <a:extLst xmlns:a="http://schemas.openxmlformats.org/drawingml/2006/main">
              <a:ext uri="{FF2B5EF4-FFF2-40B4-BE49-F238E27FC236}">
                <a16:creationId xmlns:a16="http://schemas.microsoft.com/office/drawing/2014/main" id="{B97FB8BF-0C3F-494F-8A0B-640465A7E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981700"/>
            <a:ext cx="4095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DE8F7"/>
          </a:solidFill>
        </p:spPr>
      </p:sp>
      <p:sp>
        <p:nvSpPr>
          <p:cNvPr id="26" name="bar-2">
            <a:extLst xmlns:a="http://schemas.openxmlformats.org/drawingml/2006/main">
              <a:ext uri="{FF2B5EF4-FFF2-40B4-BE49-F238E27FC236}">
                <a16:creationId xmlns:a16="http://schemas.microsoft.com/office/drawing/2014/main" id="{0300000D-0252-4A0E-BAF8-1105CF4EB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981700"/>
            <a:ext cx="2851666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B9C68"/>
          </a:solidFill>
        </p:spPr>
      </p:sp>
      <p:sp>
        <p:nvSpPr>
          <p:cNvPr id="27" name="bar-value-2">
            <a:extLst xmlns:a="http://schemas.openxmlformats.org/drawingml/2006/main">
              <a:ext uri="{FF2B5EF4-FFF2-40B4-BE49-F238E27FC236}">
                <a16:creationId xmlns:a16="http://schemas.microsoft.com/office/drawing/2014/main" id="{CA0DCFE3-F5B9-490B-9E8D-90412EF60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78050" y="5934075"/>
            <a:ext cx="114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92B63"/>
                </a:solidFill>
              </a:defRPr>
            </a:pPr>
            <a:r>
              <a:t>55.7%</a:t>
            </a:r>
          </a:p>
        </p:txBody>
      </p:sp>
      <p:sp>
        <p:nvSpPr>
          <p:cNvPr id="28" name="bar-label-3">
            <a:extLst xmlns:a="http://schemas.openxmlformats.org/drawingml/2006/main">
              <a:ext uri="{FF2B5EF4-FFF2-40B4-BE49-F238E27FC236}">
                <a16:creationId xmlns:a16="http://schemas.microsoft.com/office/drawing/2014/main" id="{7CABF6C7-B95A-4DBE-A4C2-1FCB815E0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15100"/>
            <a:ext cx="2095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01827"/>
                </a:solidFill>
              </a:defRPr>
            </a:pPr>
            <a:r>
              <a:t>Функции</a:t>
            </a:r>
          </a:p>
        </p:txBody>
      </p:sp>
      <p:sp>
        <p:nvSpPr>
          <p:cNvPr id="29" name="bar-bg-3">
            <a:extLst xmlns:a="http://schemas.openxmlformats.org/drawingml/2006/main">
              <a:ext uri="{FF2B5EF4-FFF2-40B4-BE49-F238E27FC236}">
                <a16:creationId xmlns:a16="http://schemas.microsoft.com/office/drawing/2014/main" id="{66D7BDA8-EA0B-4A07-A307-E54FA44BC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91300"/>
            <a:ext cx="4095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DE8F7"/>
          </a:solidFill>
        </p:spPr>
      </p:sp>
      <p:sp>
        <p:nvSpPr>
          <p:cNvPr id="30" name="bar-3">
            <a:extLst xmlns:a="http://schemas.openxmlformats.org/drawingml/2006/main">
              <a:ext uri="{FF2B5EF4-FFF2-40B4-BE49-F238E27FC236}">
                <a16:creationId xmlns:a16="http://schemas.microsoft.com/office/drawing/2014/main" id="{5A53DE78-1B08-46C0-982D-6B9F71A46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91300"/>
            <a:ext cx="2667357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6A23A"/>
          </a:solidFill>
        </p:spPr>
      </p:sp>
      <p:sp>
        <p:nvSpPr>
          <p:cNvPr id="31" name="bar-value-3">
            <a:extLst xmlns:a="http://schemas.openxmlformats.org/drawingml/2006/main">
              <a:ext uri="{FF2B5EF4-FFF2-40B4-BE49-F238E27FC236}">
                <a16:creationId xmlns:a16="http://schemas.microsoft.com/office/drawing/2014/main" id="{4D97AA0A-32E5-4B9A-B363-AE73B0024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78050" y="6543675"/>
            <a:ext cx="114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92B63"/>
                </a:solidFill>
              </a:defRPr>
            </a:pPr>
            <a:r>
              <a:t>52.1%</a:t>
            </a:r>
          </a:p>
        </p:txBody>
      </p:sp>
      <p:sp>
        <p:nvSpPr>
          <p:cNvPr id="32" name="bar-label-4">
            <a:extLst xmlns:a="http://schemas.openxmlformats.org/drawingml/2006/main">
              <a:ext uri="{FF2B5EF4-FFF2-40B4-BE49-F238E27FC236}">
                <a16:creationId xmlns:a16="http://schemas.microsoft.com/office/drawing/2014/main" id="{98DB9BC8-721D-4AA5-A27D-E895EF758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7124700"/>
            <a:ext cx="2095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01827"/>
                </a:solidFill>
              </a:defRPr>
            </a:pPr>
            <a:r>
              <a:t>Интеграция</a:t>
            </a:r>
          </a:p>
        </p:txBody>
      </p:sp>
      <p:sp>
        <p:nvSpPr>
          <p:cNvPr id="33" name="bar-bg-4">
            <a:extLst xmlns:a="http://schemas.openxmlformats.org/drawingml/2006/main">
              <a:ext uri="{FF2B5EF4-FFF2-40B4-BE49-F238E27FC236}">
                <a16:creationId xmlns:a16="http://schemas.microsoft.com/office/drawing/2014/main" id="{477EA1D6-317C-412D-ADD1-6C3CC8EE3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7200900"/>
            <a:ext cx="4095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DE8F7"/>
          </a:solidFill>
        </p:spPr>
      </p:sp>
      <p:sp>
        <p:nvSpPr>
          <p:cNvPr id="34" name="bar-4">
            <a:extLst xmlns:a="http://schemas.openxmlformats.org/drawingml/2006/main">
              <a:ext uri="{FF2B5EF4-FFF2-40B4-BE49-F238E27FC236}">
                <a16:creationId xmlns:a16="http://schemas.microsoft.com/office/drawing/2014/main" id="{BB1D5B30-3497-4D48-9700-2A4AEA7C6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7200900"/>
            <a:ext cx="253936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92B63"/>
          </a:solidFill>
        </p:spPr>
      </p:sp>
      <p:sp>
        <p:nvSpPr>
          <p:cNvPr id="35" name="bar-value-4">
            <a:extLst xmlns:a="http://schemas.openxmlformats.org/drawingml/2006/main">
              <a:ext uri="{FF2B5EF4-FFF2-40B4-BE49-F238E27FC236}">
                <a16:creationId xmlns:a16="http://schemas.microsoft.com/office/drawing/2014/main" id="{3B77F30C-F34A-4E8E-B84C-E42AD8C2F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78050" y="7153275"/>
            <a:ext cx="114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92B63"/>
                </a:solidFill>
              </a:defRPr>
            </a:pPr>
            <a:r>
              <a:t>49.6%</a:t>
            </a:r>
          </a:p>
        </p:txBody>
      </p:sp>
      <p:sp>
        <p:nvSpPr>
          <p:cNvPr id="36" name="help-bg">
            <a:extLst xmlns:a="http://schemas.openxmlformats.org/drawingml/2006/main">
              <a:ext uri="{FF2B5EF4-FFF2-40B4-BE49-F238E27FC236}">
                <a16:creationId xmlns:a16="http://schemas.microsoft.com/office/drawing/2014/main" id="{6CE41995-1B57-46CC-8441-247853CDE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6286500"/>
            <a:ext cx="5905500" cy="1428750"/>
          </a:xfrm>
          <a:prstGeom xmlns:a="http://schemas.openxmlformats.org/drawingml/2006/main" prst="roundRect">
            <a:avLst>
              <a:gd name="adj" fmla="val 14667"/>
            </a:avLst>
          </a:prstGeom>
          <a:solidFill xmlns:a="http://schemas.openxmlformats.org/drawingml/2006/main">
            <a:srgbClr val="E8FBFF"/>
          </a:solidFill>
        </p:spPr>
      </p:sp>
      <p:sp>
        <p:nvSpPr>
          <p:cNvPr id="37" name="help-title">
            <a:extLst xmlns:a="http://schemas.openxmlformats.org/drawingml/2006/main">
              <a:ext uri="{FF2B5EF4-FFF2-40B4-BE49-F238E27FC236}">
                <a16:creationId xmlns:a16="http://schemas.microsoft.com/office/drawing/2014/main" id="{5E7EEA04-2DB6-4D94-A405-A7A0F9184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6610350"/>
            <a:ext cx="2857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92B63"/>
                </a:solidFill>
              </a:defRPr>
            </a:pPr>
            <a:r>
              <a:t>Эффект помощи</a:t>
            </a:r>
          </a:p>
        </p:txBody>
      </p:sp>
      <p:sp>
        <p:nvSpPr>
          <p:cNvPr id="38" name="help-text">
            <a:extLst xmlns:a="http://schemas.openxmlformats.org/drawingml/2006/main">
              <a:ext uri="{FF2B5EF4-FFF2-40B4-BE49-F238E27FC236}">
                <a16:creationId xmlns:a16="http://schemas.microsoft.com/office/drawing/2014/main" id="{0065871D-94CE-487E-AC60-F2228C910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7105650"/>
            <a:ext cx="4953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101827"/>
                </a:solidFill>
              </a:defRPr>
            </a:pPr>
            <a:r>
              <a:t>Успешность без помощи: 52,1%.</a:t>
            </a:r>
          </a:p>
          <a:p xmlns:a="http://schemas.openxmlformats.org/drawingml/2006/main">
            <a:pPr>
              <a:defRPr sz="2025">
                <a:solidFill>
                  <a:srgbClr val="101827"/>
                </a:solidFill>
              </a:defRPr>
            </a:pPr>
            <a:r>
              <a:t>С подсказкой: 65,1%.</a:t>
            </a:r>
          </a:p>
        </p:txBody>
      </p:sp>
      <p:sp>
        <p:nvSpPr>
          <p:cNvPr id="39" name="footer-line-11">
            <a:extLst xmlns:a="http://schemas.openxmlformats.org/drawingml/2006/main">
              <a:ext uri="{FF2B5EF4-FFF2-40B4-BE49-F238E27FC236}">
                <a16:creationId xmlns:a16="http://schemas.microsoft.com/office/drawing/2014/main" id="{347B290E-B2CA-4015-B869-6BC4C8511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620250"/>
            <a:ext cx="16459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CAD"/>
          </a:solidFill>
        </p:spPr>
      </p:sp>
      <p:sp>
        <p:nvSpPr>
          <p:cNvPr id="40" name="footer-11">
            <a:extLst xmlns:a="http://schemas.openxmlformats.org/drawingml/2006/main">
              <a:ext uri="{FF2B5EF4-FFF2-40B4-BE49-F238E27FC236}">
                <a16:creationId xmlns:a16="http://schemas.microsoft.com/office/drawing/2014/main" id="{984962FC-D5B1-43EB-8268-2D285B13F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791700"/>
            <a:ext cx="164592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F6D7E"/>
                </a:solidFill>
              </a:defRPr>
            </a:pPr>
            <a:r>
              <a:t>ВКР: обучающая игра-платформер с интеграцией ИИ  |  11</a:t>
            </a:r>
          </a:p>
        </p:txBody>
      </p:sp>
    </p:spTree>
    <p:extLst>
      <p:ext uri="{BB962C8B-B14F-4D97-AF65-F5344CB8AC3E}">
        <p14:creationId xmlns:p14="http://schemas.microsoft.com/office/powerpoint/2010/main" val="157094711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646A54C4-D182-4F04-82D1-74980CCD9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F"/>
          </a:solidFill>
        </p:spPr>
      </p:sp>
      <p:sp>
        <p:nvSpPr>
          <p:cNvPr id="2" name="title-12">
            <a:extLst xmlns:a="http://schemas.openxmlformats.org/drawingml/2006/main">
              <a:ext uri="{FF2B5EF4-FFF2-40B4-BE49-F238E27FC236}">
                <a16:creationId xmlns:a16="http://schemas.microsoft.com/office/drawing/2014/main" id="{CF6B1EB1-A61E-4024-9358-7B9144B19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9600"/>
            <a:ext cx="120015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92B63"/>
                </a:solidFill>
              </a:defRPr>
            </a:pPr>
            <a:r>
              <a:t>Итоги работы</a:t>
            </a:r>
          </a:p>
        </p:txBody>
      </p:sp>
      <p:sp>
        <p:nvSpPr>
          <p:cNvPr id="3" name="subtitle-12">
            <a:extLst xmlns:a="http://schemas.openxmlformats.org/drawingml/2006/main">
              <a:ext uri="{FF2B5EF4-FFF2-40B4-BE49-F238E27FC236}">
                <a16:creationId xmlns:a16="http://schemas.microsoft.com/office/drawing/2014/main" id="{13014F30-7A93-45C7-A7E7-B3213EC60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66850"/>
            <a:ext cx="13525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F6D7E"/>
                </a:solidFill>
              </a:defRPr>
            </a:pPr>
            <a:r>
              <a:t>Цель в основном достигнута: создан рабочий прототип и проверена логика обучения через игровой сценарий.</a:t>
            </a:r>
          </a:p>
        </p:txBody>
      </p:sp>
      <p:sp>
        <p:nvSpPr>
          <p:cNvPr id="4" name="title-accent-12">
            <a:extLst xmlns:a="http://schemas.openxmlformats.org/drawingml/2006/main">
              <a:ext uri="{FF2B5EF4-FFF2-40B4-BE49-F238E27FC236}">
                <a16:creationId xmlns:a16="http://schemas.microsoft.com/office/drawing/2014/main" id="{449B9954-792E-44F7-B9E0-D0BADA748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2095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8C9"/>
          </a:solidFill>
        </p:spPr>
      </p:sp>
      <p:sp>
        <p:nvSpPr>
          <p:cNvPr id="5" name="result-1-base">
            <a:extLst xmlns:a="http://schemas.openxmlformats.org/drawingml/2006/main">
              <a:ext uri="{FF2B5EF4-FFF2-40B4-BE49-F238E27FC236}">
                <a16:creationId xmlns:a16="http://schemas.microsoft.com/office/drawing/2014/main" id="{519132F8-25A9-466D-94C0-B40849073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14625"/>
            <a:ext cx="4953000" cy="24765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6" name="result-1-accent">
            <a:extLst xmlns:a="http://schemas.openxmlformats.org/drawingml/2006/main">
              <a:ext uri="{FF2B5EF4-FFF2-40B4-BE49-F238E27FC236}">
                <a16:creationId xmlns:a16="http://schemas.microsoft.com/office/drawing/2014/main" id="{4C8A129E-FE8F-4775-82A6-46AF577AC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14625"/>
            <a:ext cx="114300" cy="2476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9C68"/>
          </a:solidFill>
        </p:spPr>
      </p:sp>
      <p:sp>
        <p:nvSpPr>
          <p:cNvPr id="7" name="result-1-heading">
            <a:extLst xmlns:a="http://schemas.openxmlformats.org/drawingml/2006/main">
              <a:ext uri="{FF2B5EF4-FFF2-40B4-BE49-F238E27FC236}">
                <a16:creationId xmlns:a16="http://schemas.microsoft.com/office/drawing/2014/main" id="{ABEAB7B5-0739-405E-83BD-9AA45C97B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62275"/>
            <a:ext cx="44005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92B63"/>
                </a:solidFill>
              </a:defRPr>
            </a:pPr>
            <a:r>
              <a:t>Реализовано</a:t>
            </a:r>
          </a:p>
        </p:txBody>
      </p:sp>
      <p:sp>
        <p:nvSpPr>
          <p:cNvPr id="8" name="result-1-body">
            <a:extLst xmlns:a="http://schemas.openxmlformats.org/drawingml/2006/main">
              <a:ext uri="{FF2B5EF4-FFF2-40B4-BE49-F238E27FC236}">
                <a16:creationId xmlns:a16="http://schemas.microsoft.com/office/drawing/2014/main" id="{FD8604F2-1364-4BA2-96F5-32207694A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476625"/>
            <a:ext cx="4400550" cy="1562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01827"/>
                </a:solidFill>
              </a:defRPr>
            </a:pPr>
            <a:r>
              <a:t>Godot-прототип, уровни, Combat Terminal, враги, боссы, FastAPI backend, проверка, подсказки и логирование.</a:t>
            </a:r>
          </a:p>
        </p:txBody>
      </p:sp>
      <p:sp>
        <p:nvSpPr>
          <p:cNvPr id="9" name="result-2-base">
            <a:extLst xmlns:a="http://schemas.openxmlformats.org/drawingml/2006/main">
              <a:ext uri="{FF2B5EF4-FFF2-40B4-BE49-F238E27FC236}">
                <a16:creationId xmlns:a16="http://schemas.microsoft.com/office/drawing/2014/main" id="{0EEA587C-F4D7-40E7-968C-D39F91A4C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14625"/>
            <a:ext cx="4953000" cy="24765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0" name="result-2-accent">
            <a:extLst xmlns:a="http://schemas.openxmlformats.org/drawingml/2006/main">
              <a:ext uri="{FF2B5EF4-FFF2-40B4-BE49-F238E27FC236}">
                <a16:creationId xmlns:a16="http://schemas.microsoft.com/office/drawing/2014/main" id="{58C48F96-319D-4372-BD22-C273F982F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14625"/>
            <a:ext cx="114300" cy="2476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5CAD"/>
          </a:solidFill>
        </p:spPr>
      </p:sp>
      <p:sp>
        <p:nvSpPr>
          <p:cNvPr id="11" name="result-2-heading">
            <a:extLst xmlns:a="http://schemas.openxmlformats.org/drawingml/2006/main">
              <a:ext uri="{FF2B5EF4-FFF2-40B4-BE49-F238E27FC236}">
                <a16:creationId xmlns:a16="http://schemas.microsoft.com/office/drawing/2014/main" id="{8F6FD196-55BF-4E92-82EE-3DB5C99D9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962275"/>
            <a:ext cx="44005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92B63"/>
                </a:solidFill>
              </a:defRPr>
            </a:pPr>
            <a:r>
              <a:t>Практическая значимость</a:t>
            </a:r>
          </a:p>
        </p:txBody>
      </p:sp>
      <p:sp>
        <p:nvSpPr>
          <p:cNvPr id="12" name="result-2-body">
            <a:extLst xmlns:a="http://schemas.openxmlformats.org/drawingml/2006/main">
              <a:ext uri="{FF2B5EF4-FFF2-40B4-BE49-F238E27FC236}">
                <a16:creationId xmlns:a16="http://schemas.microsoft.com/office/drawing/2014/main" id="{7D99FD4C-151B-40CA-8184-C5E338C3A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476625"/>
            <a:ext cx="4400550" cy="1562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01827"/>
                </a:solidFill>
              </a:defRPr>
            </a:pPr>
            <a:r>
              <a:t>Проект можно использовать как основу для дальнейшего образовательного продукта и пилотных исследований.</a:t>
            </a:r>
          </a:p>
        </p:txBody>
      </p:sp>
      <p:sp>
        <p:nvSpPr>
          <p:cNvPr id="13" name="result-3-base">
            <a:extLst xmlns:a="http://schemas.openxmlformats.org/drawingml/2006/main">
              <a:ext uri="{FF2B5EF4-FFF2-40B4-BE49-F238E27FC236}">
                <a16:creationId xmlns:a16="http://schemas.microsoft.com/office/drawing/2014/main" id="{88E6FE05-D6F9-4E70-9000-5F25B6A0A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2714625"/>
            <a:ext cx="4953000" cy="24765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4" name="result-3-accent">
            <a:extLst xmlns:a="http://schemas.openxmlformats.org/drawingml/2006/main">
              <a:ext uri="{FF2B5EF4-FFF2-40B4-BE49-F238E27FC236}">
                <a16:creationId xmlns:a16="http://schemas.microsoft.com/office/drawing/2014/main" id="{D3DEE67C-7F80-4F94-AA54-7D9288306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2714625"/>
            <a:ext cx="114300" cy="2476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A23A"/>
          </a:solidFill>
        </p:spPr>
      </p:sp>
      <p:sp>
        <p:nvSpPr>
          <p:cNvPr id="15" name="result-3-heading">
            <a:extLst xmlns:a="http://schemas.openxmlformats.org/drawingml/2006/main">
              <a:ext uri="{FF2B5EF4-FFF2-40B4-BE49-F238E27FC236}">
                <a16:creationId xmlns:a16="http://schemas.microsoft.com/office/drawing/2014/main" id="{2C57C40A-2E4B-4357-909E-1AFC0BFCF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1100" y="2962275"/>
            <a:ext cx="44005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92B63"/>
                </a:solidFill>
              </a:defRPr>
            </a:pPr>
            <a:r>
              <a:t>Ограничения</a:t>
            </a:r>
          </a:p>
        </p:txBody>
      </p:sp>
      <p:sp>
        <p:nvSpPr>
          <p:cNvPr id="16" name="result-3-body">
            <a:extLst xmlns:a="http://schemas.openxmlformats.org/drawingml/2006/main">
              <a:ext uri="{FF2B5EF4-FFF2-40B4-BE49-F238E27FC236}">
                <a16:creationId xmlns:a16="http://schemas.microsoft.com/office/drawing/2014/main" id="{5B717B58-EF73-4959-8420-23016E73B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1100" y="3476625"/>
            <a:ext cx="4400550" cy="1562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01827"/>
                </a:solidFill>
              </a:defRPr>
            </a:pPr>
            <a:r>
              <a:t>Текущая версия является прототипом: нужны расширенная апробация, улучшение семантической проверки и UX-полировка.</a:t>
            </a:r>
          </a:p>
        </p:txBody>
      </p:sp>
      <p:sp>
        <p:nvSpPr>
          <p:cNvPr id="17" name="next-bg">
            <a:extLst xmlns:a="http://schemas.openxmlformats.org/drawingml/2006/main">
              <a:ext uri="{FF2B5EF4-FFF2-40B4-BE49-F238E27FC236}">
                <a16:creationId xmlns:a16="http://schemas.microsoft.com/office/drawing/2014/main" id="{BB2EB27E-3039-4320-9B70-08900C480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6477000"/>
            <a:ext cx="14097000" cy="1390650"/>
          </a:xfrm>
          <a:prstGeom xmlns:a="http://schemas.openxmlformats.org/drawingml/2006/main" prst="roundRect">
            <a:avLst>
              <a:gd name="adj" fmla="val 16438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8" name="next-title">
            <a:extLst xmlns:a="http://schemas.openxmlformats.org/drawingml/2006/main">
              <a:ext uri="{FF2B5EF4-FFF2-40B4-BE49-F238E27FC236}">
                <a16:creationId xmlns:a16="http://schemas.microsoft.com/office/drawing/2014/main" id="{625C53DF-A8EC-4F9F-AB6B-DC3027CDD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6743700"/>
            <a:ext cx="4000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92B63"/>
                </a:solidFill>
              </a:defRPr>
            </a:pPr>
            <a:r>
              <a:t>Направления развития</a:t>
            </a:r>
          </a:p>
        </p:txBody>
      </p:sp>
      <p:sp>
        <p:nvSpPr>
          <p:cNvPr id="19" name="next-text">
            <a:extLst xmlns:a="http://schemas.openxmlformats.org/drawingml/2006/main">
              <a:ext uri="{FF2B5EF4-FFF2-40B4-BE49-F238E27FC236}">
                <a16:creationId xmlns:a16="http://schemas.microsoft.com/office/drawing/2014/main" id="{03DA6F01-D015-4A22-8701-CDECDCB8F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7239000"/>
            <a:ext cx="12954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101827"/>
                </a:solidFill>
              </a:defRPr>
            </a:pPr>
            <a:r>
              <a:t>расширить набор заданий · подключить более устойчивую LLM-интеграцию · провести тестирование на учебной группе · улучшить аналитику прогресса</a:t>
            </a:r>
          </a:p>
        </p:txBody>
      </p:sp>
      <p:sp>
        <p:nvSpPr>
          <p:cNvPr id="20" name="footer-line-12">
            <a:extLst xmlns:a="http://schemas.openxmlformats.org/drawingml/2006/main">
              <a:ext uri="{FF2B5EF4-FFF2-40B4-BE49-F238E27FC236}">
                <a16:creationId xmlns:a16="http://schemas.microsoft.com/office/drawing/2014/main" id="{BD1F34F3-4218-4029-8E29-841157DAA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620250"/>
            <a:ext cx="16459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CAD"/>
          </a:solidFill>
        </p:spPr>
      </p:sp>
      <p:sp>
        <p:nvSpPr>
          <p:cNvPr id="21" name="footer-12">
            <a:extLst xmlns:a="http://schemas.openxmlformats.org/drawingml/2006/main">
              <a:ext uri="{FF2B5EF4-FFF2-40B4-BE49-F238E27FC236}">
                <a16:creationId xmlns:a16="http://schemas.microsoft.com/office/drawing/2014/main" id="{77623E79-256D-476D-A4CC-909C9BD0B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791700"/>
            <a:ext cx="164592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F6D7E"/>
                </a:solidFill>
              </a:defRPr>
            </a:pPr>
            <a:r>
              <a:t>ВКР: обучающая игра-платформер с интеграцией ИИ  |  12</a:t>
            </a:r>
          </a:p>
        </p:txBody>
      </p:sp>
    </p:spTree>
    <p:extLst>
      <p:ext uri="{BB962C8B-B14F-4D97-AF65-F5344CB8AC3E}">
        <p14:creationId xmlns:p14="http://schemas.microsoft.com/office/powerpoint/2010/main" val="1048017669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98DC3B05-0D7F-4A62-B070-742A6CEA5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F"/>
          </a:solidFill>
        </p:spPr>
      </p:sp>
      <p:sp>
        <p:nvSpPr>
          <p:cNvPr id="2" name="title-13">
            <a:extLst xmlns:a="http://schemas.openxmlformats.org/drawingml/2006/main">
              <a:ext uri="{FF2B5EF4-FFF2-40B4-BE49-F238E27FC236}">
                <a16:creationId xmlns:a16="http://schemas.microsoft.com/office/drawing/2014/main" id="{27514BD6-B7A4-4E21-AC98-C21A054FF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9600"/>
            <a:ext cx="120015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92B63"/>
                </a:solidFill>
              </a:defRPr>
            </a:pPr>
            <a:r>
              <a:t>Резерв: возможные вопросы комиссии</a:t>
            </a:r>
          </a:p>
        </p:txBody>
      </p:sp>
      <p:sp>
        <p:nvSpPr>
          <p:cNvPr id="3" name="subtitle-13">
            <a:extLst xmlns:a="http://schemas.openxmlformats.org/drawingml/2006/main">
              <a:ext uri="{FF2B5EF4-FFF2-40B4-BE49-F238E27FC236}">
                <a16:creationId xmlns:a16="http://schemas.microsoft.com/office/drawing/2014/main" id="{4D707FCB-D0A7-4D10-83DE-C244DCBF9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66850"/>
            <a:ext cx="13525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F6D7E"/>
                </a:solidFill>
              </a:defRPr>
            </a:pPr>
            <a:r>
              <a:t>Этот слайд можно держать в конце как подсказку для Q&amp;A, но не обязательно показывать во время доклада.</a:t>
            </a:r>
          </a:p>
        </p:txBody>
      </p:sp>
      <p:sp>
        <p:nvSpPr>
          <p:cNvPr id="4" name="title-accent-13">
            <a:extLst xmlns:a="http://schemas.openxmlformats.org/drawingml/2006/main">
              <a:ext uri="{FF2B5EF4-FFF2-40B4-BE49-F238E27FC236}">
                <a16:creationId xmlns:a16="http://schemas.microsoft.com/office/drawing/2014/main" id="{37F5D51A-6473-4209-9D34-B23148A64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2095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8C9"/>
          </a:solidFill>
        </p:spPr>
      </p:sp>
      <p:sp>
        <p:nvSpPr>
          <p:cNvPr id="5" name="q1-base">
            <a:extLst xmlns:a="http://schemas.openxmlformats.org/drawingml/2006/main">
              <a:ext uri="{FF2B5EF4-FFF2-40B4-BE49-F238E27FC236}">
                <a16:creationId xmlns:a16="http://schemas.microsoft.com/office/drawing/2014/main" id="{5B5F4170-804E-4F1D-8633-882A92438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9850"/>
            <a:ext cx="5143500" cy="20002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6" name="q1-accent">
            <a:extLst xmlns:a="http://schemas.openxmlformats.org/drawingml/2006/main">
              <a:ext uri="{FF2B5EF4-FFF2-40B4-BE49-F238E27FC236}">
                <a16:creationId xmlns:a16="http://schemas.microsoft.com/office/drawing/2014/main" id="{99D4CDCF-55AB-46E9-B33B-01CC87DF3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9850"/>
            <a:ext cx="114300" cy="2000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5CAD"/>
          </a:solidFill>
        </p:spPr>
      </p:sp>
      <p:sp>
        <p:nvSpPr>
          <p:cNvPr id="7" name="q1-heading">
            <a:extLst xmlns:a="http://schemas.openxmlformats.org/drawingml/2006/main">
              <a:ext uri="{FF2B5EF4-FFF2-40B4-BE49-F238E27FC236}">
                <a16:creationId xmlns:a16="http://schemas.microsoft.com/office/drawing/2014/main" id="{498F620C-5B2C-48E9-B1B6-183789C77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57500"/>
            <a:ext cx="45910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92B63"/>
                </a:solidFill>
              </a:defRPr>
            </a:pPr>
            <a:r>
              <a:t>Почему игра, а не обычный тренажер?</a:t>
            </a:r>
          </a:p>
        </p:txBody>
      </p:sp>
      <p:sp>
        <p:nvSpPr>
          <p:cNvPr id="8" name="q1-body">
            <a:extLst xmlns:a="http://schemas.openxmlformats.org/drawingml/2006/main">
              <a:ext uri="{FF2B5EF4-FFF2-40B4-BE49-F238E27FC236}">
                <a16:creationId xmlns:a16="http://schemas.microsoft.com/office/drawing/2014/main" id="{78857596-C8DA-47E6-8E19-55CEEE393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371850"/>
            <a:ext cx="4591050" cy="1085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01827"/>
                </a:solidFill>
              </a:defRPr>
            </a:pPr>
            <a:r>
              <a:t>Потому что игровой мир дает мгновенную визуальную связь между кодом и результатом.</a:t>
            </a:r>
          </a:p>
        </p:txBody>
      </p:sp>
      <p:sp>
        <p:nvSpPr>
          <p:cNvPr id="9" name="q2-base">
            <a:extLst xmlns:a="http://schemas.openxmlformats.org/drawingml/2006/main">
              <a:ext uri="{FF2B5EF4-FFF2-40B4-BE49-F238E27FC236}">
                <a16:creationId xmlns:a16="http://schemas.microsoft.com/office/drawing/2014/main" id="{BEC97C0B-77BF-46AF-9B61-2052F3F56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09850"/>
            <a:ext cx="5143500" cy="20002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0" name="q2-accent">
            <a:extLst xmlns:a="http://schemas.openxmlformats.org/drawingml/2006/main">
              <a:ext uri="{FF2B5EF4-FFF2-40B4-BE49-F238E27FC236}">
                <a16:creationId xmlns:a16="http://schemas.microsoft.com/office/drawing/2014/main" id="{269AC4F7-E44A-4F94-9036-85A9D6A55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09850"/>
            <a:ext cx="114300" cy="2000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B8C9"/>
          </a:solidFill>
        </p:spPr>
      </p:sp>
      <p:sp>
        <p:nvSpPr>
          <p:cNvPr id="11" name="q2-heading">
            <a:extLst xmlns:a="http://schemas.openxmlformats.org/drawingml/2006/main">
              <a:ext uri="{FF2B5EF4-FFF2-40B4-BE49-F238E27FC236}">
                <a16:creationId xmlns:a16="http://schemas.microsoft.com/office/drawing/2014/main" id="{AE6FBEC8-D27D-4E1B-9D8D-845860F8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857500"/>
            <a:ext cx="45910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92B63"/>
                </a:solidFill>
              </a:defRPr>
            </a:pPr>
            <a:r>
              <a:t>Где здесь ИИ?</a:t>
            </a:r>
          </a:p>
        </p:txBody>
      </p:sp>
      <p:sp>
        <p:nvSpPr>
          <p:cNvPr id="12" name="q2-body">
            <a:extLst xmlns:a="http://schemas.openxmlformats.org/drawingml/2006/main">
              <a:ext uri="{FF2B5EF4-FFF2-40B4-BE49-F238E27FC236}">
                <a16:creationId xmlns:a16="http://schemas.microsoft.com/office/drawing/2014/main" id="{5B2F78C5-4E39-4FCE-9622-BA36C070E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371850"/>
            <a:ext cx="4591050" cy="1085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01827"/>
                </a:solidFill>
              </a:defRPr>
            </a:pPr>
            <a:r>
              <a:t>В генерации/оценке заданий, подсказках, семантической проверке и адаптации сложности.</a:t>
            </a:r>
          </a:p>
        </p:txBody>
      </p:sp>
      <p:sp>
        <p:nvSpPr>
          <p:cNvPr id="13" name="q3-base">
            <a:extLst xmlns:a="http://schemas.openxmlformats.org/drawingml/2006/main">
              <a:ext uri="{FF2B5EF4-FFF2-40B4-BE49-F238E27FC236}">
                <a16:creationId xmlns:a16="http://schemas.microsoft.com/office/drawing/2014/main" id="{C86FA798-0EA2-458E-B8D5-EC9154429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0100" y="2609850"/>
            <a:ext cx="5143500" cy="20002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4" name="q3-accent">
            <a:extLst xmlns:a="http://schemas.openxmlformats.org/drawingml/2006/main">
              <a:ext uri="{FF2B5EF4-FFF2-40B4-BE49-F238E27FC236}">
                <a16:creationId xmlns:a16="http://schemas.microsoft.com/office/drawing/2014/main" id="{911BAB53-FAFD-4F53-ABA3-ED8F0A187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0100" y="2609850"/>
            <a:ext cx="114300" cy="2000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9C68"/>
          </a:solidFill>
        </p:spPr>
      </p:sp>
      <p:sp>
        <p:nvSpPr>
          <p:cNvPr id="15" name="q3-heading">
            <a:extLst xmlns:a="http://schemas.openxmlformats.org/drawingml/2006/main">
              <a:ext uri="{FF2B5EF4-FFF2-40B4-BE49-F238E27FC236}">
                <a16:creationId xmlns:a16="http://schemas.microsoft.com/office/drawing/2014/main" id="{90E09C93-5494-495A-859B-438782D75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3950" y="2857500"/>
            <a:ext cx="45910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92B63"/>
                </a:solidFill>
              </a:defRPr>
            </a:pPr>
            <a:r>
              <a:t>Что будет без LLM?</a:t>
            </a:r>
          </a:p>
        </p:txBody>
      </p:sp>
      <p:sp>
        <p:nvSpPr>
          <p:cNvPr id="16" name="q3-body">
            <a:extLst xmlns:a="http://schemas.openxmlformats.org/drawingml/2006/main">
              <a:ext uri="{FF2B5EF4-FFF2-40B4-BE49-F238E27FC236}">
                <a16:creationId xmlns:a16="http://schemas.microsoft.com/office/drawing/2014/main" id="{7784EB67-850B-4828-BD0D-68383C808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3950" y="3371850"/>
            <a:ext cx="4591050" cy="1085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01827"/>
                </a:solidFill>
              </a:defRPr>
            </a:pPr>
            <a:r>
              <a:t>Fallback-правила сохраняют работоспособность терминала и демонстрации.</a:t>
            </a:r>
          </a:p>
        </p:txBody>
      </p:sp>
      <p:sp>
        <p:nvSpPr>
          <p:cNvPr id="17" name="q4-base">
            <a:extLst xmlns:a="http://schemas.openxmlformats.org/drawingml/2006/main">
              <a:ext uri="{FF2B5EF4-FFF2-40B4-BE49-F238E27FC236}">
                <a16:creationId xmlns:a16="http://schemas.microsoft.com/office/drawing/2014/main" id="{49C0FEA6-3BEE-4A98-9EE9-D81D35DB6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34000"/>
            <a:ext cx="5143500" cy="20002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8" name="q4-accent">
            <a:extLst xmlns:a="http://schemas.openxmlformats.org/drawingml/2006/main">
              <a:ext uri="{FF2B5EF4-FFF2-40B4-BE49-F238E27FC236}">
                <a16:creationId xmlns:a16="http://schemas.microsoft.com/office/drawing/2014/main" id="{D4B2E6C6-9BE3-4CA8-8C23-A9B620C62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34000"/>
            <a:ext cx="114300" cy="2000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A23A"/>
          </a:solidFill>
        </p:spPr>
      </p:sp>
      <p:sp>
        <p:nvSpPr>
          <p:cNvPr id="19" name="q4-heading">
            <a:extLst xmlns:a="http://schemas.openxmlformats.org/drawingml/2006/main">
              <a:ext uri="{FF2B5EF4-FFF2-40B4-BE49-F238E27FC236}">
                <a16:creationId xmlns:a16="http://schemas.microsoft.com/office/drawing/2014/main" id="{0BC871D7-7C78-495D-ACE0-0246CC322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581650"/>
            <a:ext cx="45910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92B63"/>
                </a:solidFill>
              </a:defRPr>
            </a:pPr>
            <a:r>
              <a:t>Как проверяется код?</a:t>
            </a:r>
          </a:p>
        </p:txBody>
      </p:sp>
      <p:sp>
        <p:nvSpPr>
          <p:cNvPr id="20" name="q4-body">
            <a:extLst xmlns:a="http://schemas.openxmlformats.org/drawingml/2006/main">
              <a:ext uri="{FF2B5EF4-FFF2-40B4-BE49-F238E27FC236}">
                <a16:creationId xmlns:a16="http://schemas.microsoft.com/office/drawing/2014/main" id="{586E71E4-E9F4-4220-8210-E90FD3606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096000"/>
            <a:ext cx="4591050" cy="1085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01827"/>
                </a:solidFill>
              </a:defRPr>
            </a:pPr>
            <a:r>
              <a:t>Сначала синтаксис и AST, затем тематические правила, ключевые понятия и игровой контекст.</a:t>
            </a:r>
          </a:p>
        </p:txBody>
      </p:sp>
      <p:sp>
        <p:nvSpPr>
          <p:cNvPr id="21" name="q5-base">
            <a:extLst xmlns:a="http://schemas.openxmlformats.org/drawingml/2006/main">
              <a:ext uri="{FF2B5EF4-FFF2-40B4-BE49-F238E27FC236}">
                <a16:creationId xmlns:a16="http://schemas.microsoft.com/office/drawing/2014/main" id="{66BA3F0A-642D-41DD-AFEE-D52667463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334000"/>
            <a:ext cx="5143500" cy="20002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2" name="q5-accent">
            <a:extLst xmlns:a="http://schemas.openxmlformats.org/drawingml/2006/main">
              <a:ext uri="{FF2B5EF4-FFF2-40B4-BE49-F238E27FC236}">
                <a16:creationId xmlns:a16="http://schemas.microsoft.com/office/drawing/2014/main" id="{EAF89A0D-787F-4130-A212-FACA9EF1C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334000"/>
            <a:ext cx="114300" cy="2000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5CAD"/>
          </a:solidFill>
        </p:spPr>
      </p:sp>
      <p:sp>
        <p:nvSpPr>
          <p:cNvPr id="23" name="q5-heading">
            <a:extLst xmlns:a="http://schemas.openxmlformats.org/drawingml/2006/main">
              <a:ext uri="{FF2B5EF4-FFF2-40B4-BE49-F238E27FC236}">
                <a16:creationId xmlns:a16="http://schemas.microsoft.com/office/drawing/2014/main" id="{2F939285-3AC2-49C3-BC8F-49822AD43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581650"/>
            <a:ext cx="45910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92B63"/>
                </a:solidFill>
              </a:defRPr>
            </a:pPr>
            <a:r>
              <a:t>Почему FastAPI отдельно?</a:t>
            </a:r>
          </a:p>
        </p:txBody>
      </p:sp>
      <p:sp>
        <p:nvSpPr>
          <p:cNvPr id="24" name="q5-body">
            <a:extLst xmlns:a="http://schemas.openxmlformats.org/drawingml/2006/main">
              <a:ext uri="{FF2B5EF4-FFF2-40B4-BE49-F238E27FC236}">
                <a16:creationId xmlns:a16="http://schemas.microsoft.com/office/drawing/2014/main" id="{9D3C1A4F-1FEE-4A83-BCDD-4766E6015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6096000"/>
            <a:ext cx="4591050" cy="1085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01827"/>
                </a:solidFill>
              </a:defRPr>
            </a:pPr>
            <a:r>
              <a:t>Так проще развивать проверку и AI-модуль независимо от Godot-сцен.</a:t>
            </a:r>
          </a:p>
        </p:txBody>
      </p:sp>
      <p:sp>
        <p:nvSpPr>
          <p:cNvPr id="25" name="q6-base">
            <a:extLst xmlns:a="http://schemas.openxmlformats.org/drawingml/2006/main">
              <a:ext uri="{FF2B5EF4-FFF2-40B4-BE49-F238E27FC236}">
                <a16:creationId xmlns:a16="http://schemas.microsoft.com/office/drawing/2014/main" id="{49228D4E-BF90-4683-84C8-61D0CA933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0100" y="5334000"/>
            <a:ext cx="5143500" cy="20002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6" name="q6-accent">
            <a:extLst xmlns:a="http://schemas.openxmlformats.org/drawingml/2006/main">
              <a:ext uri="{FF2B5EF4-FFF2-40B4-BE49-F238E27FC236}">
                <a16:creationId xmlns:a16="http://schemas.microsoft.com/office/drawing/2014/main" id="{24A9D99D-85FB-4751-AD2F-E52BE318E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0100" y="5334000"/>
            <a:ext cx="114300" cy="2000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4848"/>
          </a:solidFill>
        </p:spPr>
      </p:sp>
      <p:sp>
        <p:nvSpPr>
          <p:cNvPr id="27" name="q6-heading">
            <a:extLst xmlns:a="http://schemas.openxmlformats.org/drawingml/2006/main">
              <a:ext uri="{FF2B5EF4-FFF2-40B4-BE49-F238E27FC236}">
                <a16:creationId xmlns:a16="http://schemas.microsoft.com/office/drawing/2014/main" id="{6556EDF5-9036-4551-97DB-B6EEE5D0E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3950" y="5581650"/>
            <a:ext cx="45910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92B63"/>
                </a:solidFill>
              </a:defRPr>
            </a:pPr>
            <a:r>
              <a:t>Что доказывает тестирование?</a:t>
            </a:r>
          </a:p>
        </p:txBody>
      </p:sp>
      <p:sp>
        <p:nvSpPr>
          <p:cNvPr id="28" name="q6-body">
            <a:extLst xmlns:a="http://schemas.openxmlformats.org/drawingml/2006/main">
              <a:ext uri="{FF2B5EF4-FFF2-40B4-BE49-F238E27FC236}">
                <a16:creationId xmlns:a16="http://schemas.microsoft.com/office/drawing/2014/main" id="{E9B87B51-DEAF-4EA0-B41D-0C44BD064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3950" y="6096000"/>
            <a:ext cx="4591050" cy="1085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01827"/>
                </a:solidFill>
              </a:defRPr>
            </a:pPr>
            <a:r>
              <a:t>Оно показывает работоспособность сценариев и дает первичные метрики поведения игроков.</a:t>
            </a:r>
          </a:p>
        </p:txBody>
      </p:sp>
      <p:sp>
        <p:nvSpPr>
          <p:cNvPr id="29" name="footer-line-13">
            <a:extLst xmlns:a="http://schemas.openxmlformats.org/drawingml/2006/main">
              <a:ext uri="{FF2B5EF4-FFF2-40B4-BE49-F238E27FC236}">
                <a16:creationId xmlns:a16="http://schemas.microsoft.com/office/drawing/2014/main" id="{019C7F8B-7BD2-4781-ABAC-1F6B87A6A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620250"/>
            <a:ext cx="16459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CAD"/>
          </a:solidFill>
        </p:spPr>
      </p:sp>
      <p:sp>
        <p:nvSpPr>
          <p:cNvPr id="30" name="footer-13">
            <a:extLst xmlns:a="http://schemas.openxmlformats.org/drawingml/2006/main">
              <a:ext uri="{FF2B5EF4-FFF2-40B4-BE49-F238E27FC236}">
                <a16:creationId xmlns:a16="http://schemas.microsoft.com/office/drawing/2014/main" id="{25332705-C5D8-4281-A7EA-47A27E529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791700"/>
            <a:ext cx="164592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F6D7E"/>
                </a:solidFill>
              </a:defRPr>
            </a:pPr>
            <a:r>
              <a:t>ВКР: обучающая игра-платформер с интеграцией ИИ  |  13</a:t>
            </a:r>
          </a:p>
        </p:txBody>
      </p:sp>
    </p:spTree>
    <p:extLst>
      <p:ext uri="{BB962C8B-B14F-4D97-AF65-F5344CB8AC3E}">
        <p14:creationId xmlns:p14="http://schemas.microsoft.com/office/powerpoint/2010/main" val="1862627608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61801D7B-BE85-480E-AD45-BB81FA140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F"/>
          </a:solidFill>
        </p:spPr>
      </p:sp>
      <p:sp>
        <p:nvSpPr>
          <p:cNvPr id="2" name="title-14">
            <a:extLst xmlns:a="http://schemas.openxmlformats.org/drawingml/2006/main">
              <a:ext uri="{FF2B5EF4-FFF2-40B4-BE49-F238E27FC236}">
                <a16:creationId xmlns:a16="http://schemas.microsoft.com/office/drawing/2014/main" id="{06276D53-D5B6-4EC8-BA3A-3874BA068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9600"/>
            <a:ext cx="120015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92B63"/>
                </a:solidFill>
              </a:defRPr>
            </a:pPr>
            <a:r>
              <a:t>Что повторить перед защитой</a:t>
            </a:r>
          </a:p>
        </p:txBody>
      </p:sp>
      <p:sp>
        <p:nvSpPr>
          <p:cNvPr id="3" name="subtitle-14">
            <a:extLst xmlns:a="http://schemas.openxmlformats.org/drawingml/2006/main">
              <a:ext uri="{FF2B5EF4-FFF2-40B4-BE49-F238E27FC236}">
                <a16:creationId xmlns:a16="http://schemas.microsoft.com/office/drawing/2014/main" id="{6DFCD41E-0B07-4716-8950-9F5E8F4AE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66850"/>
            <a:ext cx="13525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F6D7E"/>
                </a:solidFill>
              </a:defRPr>
            </a:pPr>
            <a:r>
              <a:t>Самое важное - уверенно объяснить границы прототипа и связь между педагогической идеей и кодом.</a:t>
            </a:r>
          </a:p>
        </p:txBody>
      </p:sp>
      <p:sp>
        <p:nvSpPr>
          <p:cNvPr id="4" name="title-accent-14">
            <a:extLst xmlns:a="http://schemas.openxmlformats.org/drawingml/2006/main">
              <a:ext uri="{FF2B5EF4-FFF2-40B4-BE49-F238E27FC236}">
                <a16:creationId xmlns:a16="http://schemas.microsoft.com/office/drawing/2014/main" id="{92E6B014-4DB1-469E-B3C3-AF2DB4632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2095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8C9"/>
          </a:solidFill>
        </p:spPr>
      </p:sp>
      <p:sp>
        <p:nvSpPr>
          <p:cNvPr id="5" name="study-bg">
            <a:extLst xmlns:a="http://schemas.openxmlformats.org/drawingml/2006/main">
              <a:ext uri="{FF2B5EF4-FFF2-40B4-BE49-F238E27FC236}">
                <a16:creationId xmlns:a16="http://schemas.microsoft.com/office/drawing/2014/main" id="{F134EA7E-4C31-414F-9798-E611F6A64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667000"/>
            <a:ext cx="15201900" cy="5334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6" name="study-list">
            <a:extLst xmlns:a="http://schemas.openxmlformats.org/drawingml/2006/main">
              <a:ext uri="{FF2B5EF4-FFF2-40B4-BE49-F238E27FC236}">
                <a16:creationId xmlns:a16="http://schemas.microsoft.com/office/drawing/2014/main" id="{D4C05E6D-B7CA-48F0-B17B-0D223AAE3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143250"/>
            <a:ext cx="14097000" cy="400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101827"/>
                </a:solidFill>
              </a:defRPr>
            </a:pPr>
            <a:r>
              <a:t>1. Разница между игровым обучением и геймификацией.</a:t>
            </a:r>
          </a:p>
          <a:p xmlns:a="http://schemas.openxmlformats.org/drawingml/2006/main">
            <a:pPr>
              <a:defRPr sz="2325">
                <a:solidFill>
                  <a:srgbClr val="101827"/>
                </a:solidFill>
              </a:defRPr>
            </a:pPr>
            <a:r>
              <a:t>2. Почему игровые действия напрямую связаны с учебными конструкциями.</a:t>
            </a:r>
          </a:p>
          <a:p xmlns:a="http://schemas.openxmlformats.org/drawingml/2006/main">
            <a:pPr>
              <a:defRPr sz="2325">
                <a:solidFill>
                  <a:srgbClr val="101827"/>
                </a:solidFill>
              </a:defRPr>
            </a:pPr>
            <a:r>
              <a:t>3. Архитектура: Godot-клиент, FastAPI-backend, API-запросы.</a:t>
            </a:r>
          </a:p>
          <a:p xmlns:a="http://schemas.openxmlformats.org/drawingml/2006/main">
            <a:pPr>
              <a:defRPr sz="2325">
                <a:solidFill>
                  <a:srgbClr val="101827"/>
                </a:solidFill>
              </a:defRPr>
            </a:pPr>
            <a:r>
              <a:t>4. Как работает проверка кода: AST, правила, ключевые понятия, fallback.</a:t>
            </a:r>
          </a:p>
          <a:p xmlns:a="http://schemas.openxmlformats.org/drawingml/2006/main">
            <a:pPr>
              <a:defRPr sz="2325">
                <a:solidFill>
                  <a:srgbClr val="101827"/>
                </a:solidFill>
              </a:defRPr>
            </a:pPr>
            <a:r>
              <a:t>5. Как формируются подсказки и почему они не должны давать готовый ответ.</a:t>
            </a:r>
          </a:p>
          <a:p xmlns:a="http://schemas.openxmlformats.org/drawingml/2006/main">
            <a:pPr>
              <a:defRPr sz="2325">
                <a:solidFill>
                  <a:srgbClr val="101827"/>
                </a:solidFill>
              </a:defRPr>
            </a:pPr>
            <a:r>
              <a:t>6. Что означают метрики тестирования: успешность, время, подсказки, ошибки.</a:t>
            </a:r>
          </a:p>
          <a:p xmlns:a="http://schemas.openxmlformats.org/drawingml/2006/main">
            <a:pPr>
              <a:defRPr sz="2325">
                <a:solidFill>
                  <a:srgbClr val="101827"/>
                </a:solidFill>
              </a:defRPr>
            </a:pPr>
            <a:r>
              <a:t>7. Ограничения работы и план развития после прототипа.</a:t>
            </a:r>
          </a:p>
        </p:txBody>
      </p:sp>
      <p:sp>
        <p:nvSpPr>
          <p:cNvPr id="7" name="final-line">
            <a:extLst xmlns:a="http://schemas.openxmlformats.org/drawingml/2006/main">
              <a:ext uri="{FF2B5EF4-FFF2-40B4-BE49-F238E27FC236}">
                <a16:creationId xmlns:a16="http://schemas.microsoft.com/office/drawing/2014/main" id="{2CBBD64E-1548-4A6B-A7C3-3F8C22761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7639050"/>
            <a:ext cx="140970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B8C9"/>
          </a:solidFill>
        </p:spPr>
      </p:sp>
      <p:sp>
        <p:nvSpPr>
          <p:cNvPr id="8" name="footer-line-14">
            <a:extLst xmlns:a="http://schemas.openxmlformats.org/drawingml/2006/main">
              <a:ext uri="{FF2B5EF4-FFF2-40B4-BE49-F238E27FC236}">
                <a16:creationId xmlns:a16="http://schemas.microsoft.com/office/drawing/2014/main" id="{6CA1DDC3-492A-4092-98AD-E662BD135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620250"/>
            <a:ext cx="16459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CAD"/>
          </a:solidFill>
        </p:spPr>
      </p:sp>
      <p:sp>
        <p:nvSpPr>
          <p:cNvPr id="9" name="footer-14">
            <a:extLst xmlns:a="http://schemas.openxmlformats.org/drawingml/2006/main">
              <a:ext uri="{FF2B5EF4-FFF2-40B4-BE49-F238E27FC236}">
                <a16:creationId xmlns:a16="http://schemas.microsoft.com/office/drawing/2014/main" id="{0781461B-F826-4806-BFD5-52BCA8662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791700"/>
            <a:ext cx="164592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F6D7E"/>
                </a:solidFill>
              </a:defRPr>
            </a:pPr>
            <a:r>
              <a:t>ВКР: обучающая игра-платформер с интеграцией ИИ  |  14</a:t>
            </a:r>
          </a:p>
        </p:txBody>
      </p:sp>
    </p:spTree>
    <p:extLst>
      <p:ext uri="{BB962C8B-B14F-4D97-AF65-F5344CB8AC3E}">
        <p14:creationId xmlns:p14="http://schemas.microsoft.com/office/powerpoint/2010/main" val="324225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2026-05-30T14:13:11.7530000Z</dcterms:created>
  <dcterms:modified xsi:type="dcterms:W3CDTF">2026-05-30T14:13:11.7540000Z</dcterms:modified>
</coreProperties>
</file>