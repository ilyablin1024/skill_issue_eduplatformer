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68378f87a40ff" /><Relationship Type="http://schemas.openxmlformats.org/officeDocument/2006/relationships/extended-properties" Target="/docProps/app.xml" Id="R4465d95a7e864111" /><Relationship Type="http://schemas.openxmlformats.org/officeDocument/2006/relationships/officeDocument" Target="/ppt/presentation.xml" Id="R1aa14a5a75ac45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a3643b94e49f9"/>
  </p:sldMasterIdLst>
  <p:notesMasterIdLst>
    <p:notesMasterId xmlns:r="http://schemas.openxmlformats.org/officeDocument/2006/relationships" r:id="Rddbcf7b2ac7f418c"/>
  </p:notesMasterIdLst>
  <p:sldIdLst>
    <p:sldId xmlns:r="http://schemas.openxmlformats.org/officeDocument/2006/relationships" id="256" r:id="R43e7c3f55d60498c"/>
    <p:sldId xmlns:r="http://schemas.openxmlformats.org/officeDocument/2006/relationships" id="257" r:id="R7f3633018da843b6"/>
    <p:sldId xmlns:r="http://schemas.openxmlformats.org/officeDocument/2006/relationships" id="258" r:id="Rd62a4bc4ae784cff"/>
    <p:sldId xmlns:r="http://schemas.openxmlformats.org/officeDocument/2006/relationships" id="259" r:id="Rdac696eb74e545e3"/>
    <p:sldId xmlns:r="http://schemas.openxmlformats.org/officeDocument/2006/relationships" id="260" r:id="R3ac2b2a942ab4100"/>
    <p:sldId xmlns:r="http://schemas.openxmlformats.org/officeDocument/2006/relationships" id="261" r:id="R96084f1810d7478e"/>
    <p:sldId xmlns:r="http://schemas.openxmlformats.org/officeDocument/2006/relationships" id="262" r:id="R083860f993474723"/>
    <p:sldId xmlns:r="http://schemas.openxmlformats.org/officeDocument/2006/relationships" id="263" r:id="R119aae39d8ef4e14"/>
    <p:sldId xmlns:r="http://schemas.openxmlformats.org/officeDocument/2006/relationships" id="264" r:id="R13ec34ae3b024f04"/>
    <p:sldId xmlns:r="http://schemas.openxmlformats.org/officeDocument/2006/relationships" id="265" r:id="R108a8beae9764216"/>
    <p:sldId xmlns:r="http://schemas.openxmlformats.org/officeDocument/2006/relationships" id="266" r:id="Ra6f0386bdcc44425"/>
    <p:sldId xmlns:r="http://schemas.openxmlformats.org/officeDocument/2006/relationships" id="267" r:id="R5d1fdb915d5b4f8d"/>
    <p:sldId xmlns:r="http://schemas.openxmlformats.org/officeDocument/2006/relationships" id="268" r:id="R83fe3f5412a9407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a3643b94e49f9" /><Relationship Type="http://schemas.openxmlformats.org/officeDocument/2006/relationships/theme" Target="/ppt/theme/theme1.xml" Id="R2d15ae8045dd46c1" /><Relationship Type="http://schemas.openxmlformats.org/officeDocument/2006/relationships/notesMaster" Target="/ppt/notesMasters/notesMaster1.xml" Id="Rddbcf7b2ac7f418c" /><Relationship Type="http://schemas.openxmlformats.org/officeDocument/2006/relationships/presProps" Target="/ppt/presProps.xml" Id="R137bc3cbf09e42c8" /><Relationship Type="http://schemas.openxmlformats.org/officeDocument/2006/relationships/viewProps" Target="/ppt/viewProps.xml" Id="Rb9341965c35448b9" /><Relationship Type="http://schemas.openxmlformats.org/officeDocument/2006/relationships/tableStyles" Target="/ppt/tableStyles.xml" Id="R0af6816be3524e13" /><Relationship Type="http://schemas.openxmlformats.org/officeDocument/2006/relationships/slide" Target="/ppt/slides/slide1.xml" Id="R43e7c3f55d60498c" /><Relationship Type="http://schemas.openxmlformats.org/officeDocument/2006/relationships/slide" Target="/ppt/slides/slide2.xml" Id="R7f3633018da843b6" /><Relationship Type="http://schemas.openxmlformats.org/officeDocument/2006/relationships/slide" Target="/ppt/slides/slide3.xml" Id="Rd62a4bc4ae784cff" /><Relationship Type="http://schemas.openxmlformats.org/officeDocument/2006/relationships/slide" Target="/ppt/slides/slide4.xml" Id="Rdac696eb74e545e3" /><Relationship Type="http://schemas.openxmlformats.org/officeDocument/2006/relationships/slide" Target="/ppt/slides/slide5.xml" Id="R3ac2b2a942ab4100" /><Relationship Type="http://schemas.openxmlformats.org/officeDocument/2006/relationships/slide" Target="/ppt/slides/slide6.xml" Id="R96084f1810d7478e" /><Relationship Type="http://schemas.openxmlformats.org/officeDocument/2006/relationships/slide" Target="/ppt/slides/slide7.xml" Id="R083860f993474723" /><Relationship Type="http://schemas.openxmlformats.org/officeDocument/2006/relationships/slide" Target="/ppt/slides/slide8.xml" Id="R119aae39d8ef4e14" /><Relationship Type="http://schemas.openxmlformats.org/officeDocument/2006/relationships/slide" Target="/ppt/slides/slide9.xml" Id="R13ec34ae3b024f04" /><Relationship Type="http://schemas.openxmlformats.org/officeDocument/2006/relationships/slide" Target="/ppt/slides/slide10.xml" Id="R108a8beae9764216" /><Relationship Type="http://schemas.openxmlformats.org/officeDocument/2006/relationships/slide" Target="/ppt/slides/slide11.xml" Id="Ra6f0386bdcc44425" /><Relationship Type="http://schemas.openxmlformats.org/officeDocument/2006/relationships/slide" Target="/ppt/slides/slide12.xml" Id="R5d1fdb915d5b4f8d" /><Relationship Type="http://schemas.openxmlformats.org/officeDocument/2006/relationships/slide" Target="/ppt/slides/slide13.xml" Id="R83fe3f5412a940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6860b31578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b73d6a9eda4051" /><Relationship Type="http://schemas.openxmlformats.org/officeDocument/2006/relationships/notesMaster" Target="/ppt/notesMasters/notesMaster1.xml" Id="Rbc65ebb2274243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137e743986400e" /><Relationship Type="http://schemas.openxmlformats.org/officeDocument/2006/relationships/notesMaster" Target="/ppt/notesMasters/notesMaster1.xml" Id="R3c10b488cbec43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2e9a0086e47e5" /><Relationship Type="http://schemas.openxmlformats.org/officeDocument/2006/relationships/notesMaster" Target="/ppt/notesMasters/notesMaster1.xml" Id="Rc2c3d437ca4946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c08ed400c4881" /><Relationship Type="http://schemas.openxmlformats.org/officeDocument/2006/relationships/notesMaster" Target="/ppt/notesMasters/notesMaster1.xml" Id="Rd9c7592a359a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18aeda78084933" /><Relationship Type="http://schemas.openxmlformats.org/officeDocument/2006/relationships/notesMaster" Target="/ppt/notesMasters/notesMaster1.xml" Id="Rfb74c2bdfa7244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efe5e513b9408e" /><Relationship Type="http://schemas.openxmlformats.org/officeDocument/2006/relationships/notesMaster" Target="/ppt/notesMasters/notesMaster1.xml" Id="Ra7b9f5f2a532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1b8987464477c" /><Relationship Type="http://schemas.openxmlformats.org/officeDocument/2006/relationships/notesMaster" Target="/ppt/notesMasters/notesMaster1.xml" Id="R940b34c3b0dc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d71b975523496b" /><Relationship Type="http://schemas.openxmlformats.org/officeDocument/2006/relationships/notesMaster" Target="/ppt/notesMasters/notesMaster1.xml" Id="R124ef776587f48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adb2df73c044e6" /><Relationship Type="http://schemas.openxmlformats.org/officeDocument/2006/relationships/notesMaster" Target="/ppt/notesMasters/notesMaster1.xml" Id="Rbfbb1771e37847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8391a52e124be8" /><Relationship Type="http://schemas.openxmlformats.org/officeDocument/2006/relationships/notesMaster" Target="/ppt/notesMasters/notesMaster1.xml" Id="R049309a21b424b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989cf391f140b6" /><Relationship Type="http://schemas.openxmlformats.org/officeDocument/2006/relationships/notesMaster" Target="/ppt/notesMasters/notesMaster1.xml" Id="Rfe1358c956f44f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6fe82f71af429f" /><Relationship Type="http://schemas.openxmlformats.org/officeDocument/2006/relationships/notesMaster" Target="/ppt/notesMasters/notesMaster1.xml" Id="R1d3622dbba614a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503be419dc4f29" /><Relationship Type="http://schemas.openxmlformats.org/officeDocument/2006/relationships/notesMaster" Target="/ppt/notesMasters/notesMaster1.xml" Id="Raea1b8280a0c45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4725237494a8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40033834244843" /><Relationship Type="http://schemas.openxmlformats.org/officeDocument/2006/relationships/slideLayout" Target="/ppt/slideLayouts/slideLayout2.xml" Id="Reda5f1cfe0f24a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a5f1cfe0f2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446e870ced4a02" /><Relationship Type="http://schemas.openxmlformats.org/officeDocument/2006/relationships/image" Target="/ppt/media/image.png" Id="R81a81975814a402f" /><Relationship Type="http://schemas.openxmlformats.org/officeDocument/2006/relationships/image" Target="/ppt/media/image2.png" Id="R47c52932a8a5468d" /><Relationship Type="http://schemas.openxmlformats.org/officeDocument/2006/relationships/notesSlide" Target="/ppt/notesSlides/notesSlide1.xml" Id="R0d067a3e517148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45edfe722419e" /><Relationship Type="http://schemas.openxmlformats.org/officeDocument/2006/relationships/image" Target="/ppt/media/image3.png" Id="Rad6c51c533e04d70" /><Relationship Type="http://schemas.openxmlformats.org/officeDocument/2006/relationships/image" Target="/ppt/media/image4.png" Id="R493ea4788c3f4f1b" /><Relationship Type="http://schemas.openxmlformats.org/officeDocument/2006/relationships/notesSlide" Target="/ppt/notesSlides/notesSlide2.xml" Id="Rc7f86430c08f4d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0023ef4fb40e4" /><Relationship Type="http://schemas.openxmlformats.org/officeDocument/2006/relationships/image" Target="/ppt/media/image5.png" Id="Rcb62220dca734090" /><Relationship Type="http://schemas.openxmlformats.org/officeDocument/2006/relationships/notesSlide" Target="/ppt/notesSlides/notesSlide3.xml" Id="R54ec9d2b47974a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32e4c8faf43f0" /><Relationship Type="http://schemas.openxmlformats.org/officeDocument/2006/relationships/image" Target="/ppt/media/image6.png" Id="R9143b9decfde4f75" /><Relationship Type="http://schemas.openxmlformats.org/officeDocument/2006/relationships/image" Target="/ppt/media/image7.png" Id="R2603ffec1f1e40c1" /><Relationship Type="http://schemas.openxmlformats.org/officeDocument/2006/relationships/notesSlide" Target="/ppt/notesSlides/notesSlide4.xml" Id="R47cd8b2edf1347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0424fd2b84ba9" /><Relationship Type="http://schemas.openxmlformats.org/officeDocument/2006/relationships/image" Target="/ppt/media/image8.png" Id="R88b9c7a1eb1b4684" /><Relationship Type="http://schemas.openxmlformats.org/officeDocument/2006/relationships/image" Target="/ppt/media/image9.png" Id="R9fe762411a7f42a8" /><Relationship Type="http://schemas.openxmlformats.org/officeDocument/2006/relationships/notesSlide" Target="/ppt/notesSlides/notesSlide5.xml" Id="R1e2283bc0653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ade7818384ae4" /><Relationship Type="http://schemas.openxmlformats.org/officeDocument/2006/relationships/image" Target="/ppt/media/image10.png" Id="R5948ebf00b45469b" /><Relationship Type="http://schemas.openxmlformats.org/officeDocument/2006/relationships/image" Target="/ppt/media/image11.png" Id="R689c926d74064510" /><Relationship Type="http://schemas.openxmlformats.org/officeDocument/2006/relationships/notesSlide" Target="/ppt/notesSlides/notesSlide6.xml" Id="R71eb55647878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aceb7d59044bba" /><Relationship Type="http://schemas.openxmlformats.org/officeDocument/2006/relationships/image" Target="/ppt/media/image12.png" Id="Rc5990597fef04e24" /><Relationship Type="http://schemas.openxmlformats.org/officeDocument/2006/relationships/image" Target="/ppt/media/image13.png" Id="R0735c174a05148eb" /><Relationship Type="http://schemas.openxmlformats.org/officeDocument/2006/relationships/image" Target="/ppt/media/image14.png" Id="Raaa7c098567740ea" /><Relationship Type="http://schemas.openxmlformats.org/officeDocument/2006/relationships/notesSlide" Target="/ppt/notesSlides/notesSlide7.xml" Id="Rbfba0c28e1c142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5a5826c2c4124" /><Relationship Type="http://schemas.openxmlformats.org/officeDocument/2006/relationships/image" Target="/ppt/media/image15.png" Id="R39a5a349e2a7447b" /><Relationship Type="http://schemas.openxmlformats.org/officeDocument/2006/relationships/image" Target="/ppt/media/image16.png" Id="R6126550fc03f4a57" /><Relationship Type="http://schemas.openxmlformats.org/officeDocument/2006/relationships/notesSlide" Target="/ppt/notesSlides/notesSlide8.xml" Id="R57a9e138dfe441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69539f0c534270" /><Relationship Type="http://schemas.openxmlformats.org/officeDocument/2006/relationships/image" Target="/ppt/media/image17.png" Id="Raf3d5e65192e40ad" /><Relationship Type="http://schemas.openxmlformats.org/officeDocument/2006/relationships/notesSlide" Target="/ppt/notesSlides/notesSlide9.xml" Id="R5e2be8060a8d4a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73578c8fc4731" /><Relationship Type="http://schemas.openxmlformats.org/officeDocument/2006/relationships/image" Target="/ppt/media/image18.png" Id="R8e72b62ed14e4a56" /><Relationship Type="http://schemas.openxmlformats.org/officeDocument/2006/relationships/notesSlide" Target="/ppt/notesSlides/notesSlide10.xml" Id="Rafc4a130f0ca4c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abc75e1347498a" /><Relationship Type="http://schemas.openxmlformats.org/officeDocument/2006/relationships/image" Target="/ppt/media/image19.png" Id="R1bd6bc89124d4553" /><Relationship Type="http://schemas.openxmlformats.org/officeDocument/2006/relationships/notesSlide" Target="/ppt/notesSlides/notesSlide11.xml" Id="Re90715964a38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e360b14cd4022" /><Relationship Type="http://schemas.openxmlformats.org/officeDocument/2006/relationships/image" Target="/ppt/media/image20.png" Id="Re04e886fe5b547d5" /><Relationship Type="http://schemas.openxmlformats.org/officeDocument/2006/relationships/notesSlide" Target="/ppt/notesSlides/notesSlide12.xml" Id="Rab84922c08de48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991397d1a4b01" /><Relationship Type="http://schemas.openxmlformats.org/officeDocument/2006/relationships/image" Target="/ppt/media/image21.png" Id="Rf23576a1df374ecb" /><Relationship Type="http://schemas.openxmlformats.org/officeDocument/2006/relationships/image" Target="/ppt/media/image22.png" Id="R6f21a3efb1014db8" /><Relationship Type="http://schemas.openxmlformats.org/officeDocument/2006/relationships/notesSlide" Target="/ppt/notesSlides/notesSlide13.xml" Id="R03286834142f47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E53C92F-A678-4B08-92C1-92E254E6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cover-side">
            <a:extLst xmlns:a="http://schemas.openxmlformats.org/drawingml/2006/main">
              <a:ext uri="{FF2B5EF4-FFF2-40B4-BE49-F238E27FC236}">
                <a16:creationId xmlns:a16="http://schemas.microsoft.com/office/drawing/2014/main" id="{1B1FE36E-3733-4121-B433-01BD39E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387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3" name="cover-red">
            <a:extLst xmlns:a="http://schemas.openxmlformats.org/drawingml/2006/main">
              <a:ext uri="{FF2B5EF4-FFF2-40B4-BE49-F238E27FC236}">
                <a16:creationId xmlns:a16="http://schemas.microsoft.com/office/drawing/2014/main" id="{22BC3B7A-0E34-412A-BCB9-5A8747A8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0"/>
            <a:ext cx="209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4" name="cover-logo-bg">
            <a:extLst xmlns:a="http://schemas.openxmlformats.org/drawingml/2006/main">
              <a:ext uri="{FF2B5EF4-FFF2-40B4-BE49-F238E27FC236}">
                <a16:creationId xmlns:a16="http://schemas.microsoft.com/office/drawing/2014/main" id="{DEF3D5BD-138E-4F4B-954A-7CDDB064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"/>
            <a:ext cx="37338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" name="cover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81975814a402f"/>
          <a:stretch xmlns:a="http://schemas.openxmlformats.org/drawingml/2006/main"/>
        </p:blipFill>
        <p:spPr>
          <a:xfrm xmlns:a="http://schemas.openxmlformats.org/drawingml/2006/main">
            <a:off x="1254996" y="762000"/>
            <a:ext cx="2557308" cy="1276350"/>
          </a:xfrm>
          <a:prstGeom xmlns:a="http://schemas.openxmlformats.org/drawingml/2006/main" prst="rect">
            <a:avLst/>
          </a:prstGeom>
        </p:spPr>
      </p:pic>
      <p:sp>
        <p:nvSpPr>
          <p:cNvPr id="6" name="cover-school">
            <a:extLst xmlns:a="http://schemas.openxmlformats.org/drawingml/2006/main">
              <a:ext uri="{FF2B5EF4-FFF2-40B4-BE49-F238E27FC236}">
                <a16:creationId xmlns:a16="http://schemas.microsoft.com/office/drawing/2014/main" id="{4A538C63-27FB-4C37-B1C1-2B74F1B8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3429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t>НИУ ВШЭ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t>Факультет информатики,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t>математики и компьютерных наук</a:t>
            </a:r>
          </a:p>
        </p:txBody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DDE66D3-1692-4DDD-B9BB-D3DF657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00100"/>
            <a:ext cx="876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F7F7F"/>
                </a:solidFill>
              </a:defRPr>
            </a:pPr>
            <a:r>
              <a:t>Выпускная квалификационная работа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37FDCB-708B-47B9-8CC8-94307524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98107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2D69"/>
                </a:solidFill>
              </a:defRPr>
            </a:pPr>
            <a:r>
              <a:t>Разработка обучающей</a:t>
            </a:r>
          </a:p>
          <a:p xmlns:a="http://schemas.openxmlformats.org/drawingml/2006/main">
            <a:pPr>
              <a:defRPr sz="4650" b="1">
                <a:solidFill>
                  <a:srgbClr val="0F2D69"/>
                </a:solidFill>
              </a:defRPr>
            </a:pPr>
            <a:r>
              <a:t>игры-платформера</a:t>
            </a:r>
          </a:p>
          <a:p xmlns:a="http://schemas.openxmlformats.org/drawingml/2006/main">
            <a:pPr>
              <a:defRPr sz="4650" b="1">
                <a:solidFill>
                  <a:srgbClr val="0F2D69"/>
                </a:solidFill>
              </a:defRPr>
            </a:pPr>
            <a:r>
              <a:t>с интеграцией ИИ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E53D1D-FA88-4226-A227-D65A93F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9048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1E3C"/>
                </a:solidFill>
              </a:defRPr>
            </a:pPr>
            <a:r>
              <a:t>для освоения основ программирования</a:t>
            </a:r>
          </a:p>
        </p:txBody>
      </p:sp>
      <p:sp>
        <p:nvSpPr>
          <p:cNvPr id="10" name="cover-meta">
            <a:extLst xmlns:a="http://schemas.openxmlformats.org/drawingml/2006/main">
              <a:ext uri="{FF2B5EF4-FFF2-40B4-BE49-F238E27FC236}">
                <a16:creationId xmlns:a16="http://schemas.microsoft.com/office/drawing/2014/main" id="{DDB49322-C1C0-4F04-A3EB-744DBFB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15100"/>
            <a:ext cx="5143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Блинков Илья Олегович</a:t>
            </a:r>
          </a:p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ОП «Бизнес-информатика»</a:t>
            </a:r>
          </a:p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Научный руководитель:</a:t>
            </a:r>
          </a:p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к-т информационных наук, доцент Б. И. Улитин</a:t>
            </a:r>
          </a:p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Нижний Новгород, 2026</a:t>
            </a:r>
          </a:p>
        </p:txBody>
      </p:sp>
      <p:pic>
        <p:nvPicPr>
          <p:cNvPr id="11" name="cover-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52932a8a5468d"/>
          <a:srcRect xmlns:a="http://schemas.openxmlformats.org/drawingml/2006/main" l="0" t="6240" r="0" b="62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58600" y="5410200"/>
            <a:ext cx="5334000" cy="2781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370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35C3F4E-3EEF-4CD3-A589-DB591218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2">
            <a:extLst xmlns:a="http://schemas.openxmlformats.org/drawingml/2006/main">
              <a:ext uri="{FF2B5EF4-FFF2-40B4-BE49-F238E27FC236}">
                <a16:creationId xmlns:a16="http://schemas.microsoft.com/office/drawing/2014/main" id="{8ED4D9A1-DC39-4321-9EE1-FEBF4B1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9902CE1D-892C-4206-BC81-FAC9F43A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Проблема: новичок не видит результат кода сразу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3EF38519-E247-4E22-85F9-99D83EC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Гэп работы - связать учебную задачу, игровой результат и персональную подсказку.</a:t>
            </a:r>
          </a:p>
        </p:txBody>
      </p:sp>
      <p:sp>
        <p:nvSpPr>
          <p:cNvPr id="5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6DD9A702-1DB4-4528-97DE-0F7813C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c51c533e04d70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7D62229B-C45A-48D0-835E-BF98B666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191343BA-BF3A-477A-9058-D81D610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6FF496FC-082E-4D61-BCD9-01AF389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Проблема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D84574D-EC86-4D57-8D49-EEB25504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2</a:t>
            </a:r>
          </a:p>
        </p:txBody>
      </p:sp>
      <p:sp>
        <p:nvSpPr>
          <p:cNvPr id="11" name="problem-main">
            <a:extLst xmlns:a="http://schemas.openxmlformats.org/drawingml/2006/main">
              <a:ext uri="{FF2B5EF4-FFF2-40B4-BE49-F238E27FC236}">
                <a16:creationId xmlns:a16="http://schemas.microsoft.com/office/drawing/2014/main" id="{7C335FA2-0F7A-4822-85E3-618BE42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628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2D69"/>
                </a:solidFill>
              </a:defRPr>
            </a:pPr>
            <a:r>
              <a:t>На начальном этапе программирование часто воспринимается как абстрактный синтаксис, а ошибка - как тупик без понятного маршрута исправления.</a:t>
            </a:r>
          </a:p>
        </p:txBody>
      </p:sp>
      <p:sp>
        <p:nvSpPr>
          <p:cNvPr id="12" name="p1-dot">
            <a:extLst xmlns:a="http://schemas.openxmlformats.org/drawingml/2006/main">
              <a:ext uri="{FF2B5EF4-FFF2-40B4-BE49-F238E27FC236}">
                <a16:creationId xmlns:a16="http://schemas.microsoft.com/office/drawing/2014/main" id="{07E5E3FB-6C1B-4AA7-A61C-3C49030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76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13" name="p1-text">
            <a:extLst xmlns:a="http://schemas.openxmlformats.org/drawingml/2006/main">
              <a:ext uri="{FF2B5EF4-FFF2-40B4-BE49-F238E27FC236}">
                <a16:creationId xmlns:a16="http://schemas.microsoft.com/office/drawing/2014/main" id="{18F333B0-52F0-49ED-8A6D-F4F31553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53000"/>
            <a:ext cx="5638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Классические тренажеры показывают ответ, но слабо удерживают мотивацию.</a:t>
            </a:r>
          </a:p>
        </p:txBody>
      </p:sp>
      <p:sp>
        <p:nvSpPr>
          <p:cNvPr id="14" name="p2-dot">
            <a:extLst xmlns:a="http://schemas.openxmlformats.org/drawingml/2006/main">
              <a:ext uri="{FF2B5EF4-FFF2-40B4-BE49-F238E27FC236}">
                <a16:creationId xmlns:a16="http://schemas.microsoft.com/office/drawing/2014/main" id="{CB583F91-2C96-4316-BF25-28A55618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34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15" name="p2-text">
            <a:extLst xmlns:a="http://schemas.openxmlformats.org/drawingml/2006/main">
              <a:ext uri="{FF2B5EF4-FFF2-40B4-BE49-F238E27FC236}">
                <a16:creationId xmlns:a16="http://schemas.microsoft.com/office/drawing/2014/main" id="{E65608DE-5954-42A2-8058-F3A45306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10250"/>
            <a:ext cx="5638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Игровые подходы вовлекают, но часто не дают точной диагностики ошибки.</a:t>
            </a:r>
          </a:p>
        </p:txBody>
      </p:sp>
      <p:sp>
        <p:nvSpPr>
          <p:cNvPr id="16" name="p3-dot">
            <a:extLst xmlns:a="http://schemas.openxmlformats.org/drawingml/2006/main">
              <a:ext uri="{FF2B5EF4-FFF2-40B4-BE49-F238E27FC236}">
                <a16:creationId xmlns:a16="http://schemas.microsoft.com/office/drawing/2014/main" id="{860A03B4-A520-4AD3-93F7-7DCD0235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79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17" name="p3-text">
            <a:extLst xmlns:a="http://schemas.openxmlformats.org/drawingml/2006/main">
              <a:ext uri="{FF2B5EF4-FFF2-40B4-BE49-F238E27FC236}">
                <a16:creationId xmlns:a16="http://schemas.microsoft.com/office/drawing/2014/main" id="{F0F67209-4557-4715-95CE-B5DF21BF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667500"/>
            <a:ext cx="5638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ИИ-подсказка полезна только тогда, когда остается контекстной и не решает задачу за студента.</a:t>
            </a:r>
          </a:p>
        </p:txBody>
      </p:sp>
      <p:sp>
        <p:nvSpPr>
          <p:cNvPr id="18" name="problem-visual-bg">
            <a:extLst xmlns:a="http://schemas.openxmlformats.org/drawingml/2006/main">
              <a:ext uri="{FF2B5EF4-FFF2-40B4-BE49-F238E27FC236}">
                <a16:creationId xmlns:a16="http://schemas.microsoft.com/office/drawing/2014/main" id="{82C6633E-F3EA-4271-8B6C-F2EA83E8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7810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19" name="problem-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ea4788c3f4f1b"/>
          <a:stretch xmlns:a="http://schemas.openxmlformats.org/drawingml/2006/main"/>
        </p:blipFill>
        <p:spPr>
          <a:xfrm xmlns:a="http://schemas.openxmlformats.org/drawingml/2006/main">
            <a:off x="9537595" y="3238500"/>
            <a:ext cx="6070810" cy="3810000"/>
          </a:xfrm>
          <a:prstGeom xmlns:a="http://schemas.openxmlformats.org/drawingml/2006/main" prst="rect">
            <a:avLst/>
          </a:prstGeom>
        </p:spPr>
      </p:pic>
      <p:sp>
        <p:nvSpPr>
          <p:cNvPr id="20" name="problem-shot-line">
            <a:extLst xmlns:a="http://schemas.openxmlformats.org/drawingml/2006/main">
              <a:ext uri="{FF2B5EF4-FFF2-40B4-BE49-F238E27FC236}">
                <a16:creationId xmlns:a16="http://schemas.microsoft.com/office/drawing/2014/main" id="{39511F97-6569-461F-8F96-DB069A76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37235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</p:spTree>
    <p:extLst>
      <p:ext uri="{BB962C8B-B14F-4D97-AF65-F5344CB8AC3E}">
        <p14:creationId xmlns:p14="http://schemas.microsoft.com/office/powerpoint/2010/main" val="14390532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47C8EB0-BE97-4F89-9CBC-CC5645FC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3">
            <a:extLst xmlns:a="http://schemas.openxmlformats.org/drawingml/2006/main">
              <a:ext uri="{FF2B5EF4-FFF2-40B4-BE49-F238E27FC236}">
                <a16:creationId xmlns:a16="http://schemas.microsoft.com/office/drawing/2014/main" id="{6A4A5F12-82E5-42A4-AB47-6CDC74C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3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2B2173E2-2800-4BB3-91A9-91A3C801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Цель и задачи работы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7A276FB7-CD04-4CD4-B20B-5E34FF0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Исследовательский вопрос: как разработать платформер для обучения основам программирования с внедрением ИИ?</a:t>
            </a:r>
          </a:p>
        </p:txBody>
      </p:sp>
      <p:sp>
        <p:nvSpPr>
          <p:cNvPr id="5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15C68FAC-B8BF-4B9F-B901-5EE93DC7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2220dca734090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D3866A6A-9D21-4714-90FD-28FA3292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38D670E5-8175-47E1-BAFE-BDA12DA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67CEF5EC-AE9A-4895-83A5-7C09C56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Постановка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6436053-5D25-4184-BEE5-61876C7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3</a:t>
            </a:r>
          </a:p>
        </p:txBody>
      </p:sp>
      <p:sp>
        <p:nvSpPr>
          <p:cNvPr id="11" name="goal-panel">
            <a:extLst xmlns:a="http://schemas.openxmlformats.org/drawingml/2006/main">
              <a:ext uri="{FF2B5EF4-FFF2-40B4-BE49-F238E27FC236}">
                <a16:creationId xmlns:a16="http://schemas.microsoft.com/office/drawing/2014/main" id="{9BA0DA08-163A-4B49-9E65-8280DEDA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goal-accent">
            <a:extLst xmlns:a="http://schemas.openxmlformats.org/drawingml/2006/main">
              <a:ext uri="{FF2B5EF4-FFF2-40B4-BE49-F238E27FC236}">
                <a16:creationId xmlns:a16="http://schemas.microsoft.com/office/drawing/2014/main" id="{CA44A811-3B65-46C7-ADD3-23CC110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3" name="goal-heading">
            <a:extLst xmlns:a="http://schemas.openxmlformats.org/drawingml/2006/main">
              <a:ext uri="{FF2B5EF4-FFF2-40B4-BE49-F238E27FC236}">
                <a16:creationId xmlns:a16="http://schemas.microsoft.com/office/drawing/2014/main" id="{83C48366-E1C0-44F7-B1A0-10ADF07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4419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Цель</a:t>
            </a:r>
          </a:p>
        </p:txBody>
      </p:sp>
      <p:sp>
        <p:nvSpPr>
          <p:cNvPr id="14" name="goal-body">
            <a:extLst xmlns:a="http://schemas.openxmlformats.org/drawingml/2006/main">
              <a:ext uri="{FF2B5EF4-FFF2-40B4-BE49-F238E27FC236}">
                <a16:creationId xmlns:a16="http://schemas.microsoft.com/office/drawing/2014/main" id="{973EF687-1734-4C90-89E3-BBCFB18A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44196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Создать прототип обучающей игры, где код влияет на игровой прогресс, а ИИ помогает разбирать ошибки и выбирать следующий шаг.</a:t>
            </a:r>
          </a:p>
        </p:txBody>
      </p:sp>
      <p:sp>
        <p:nvSpPr>
          <p:cNvPr id="15" name="obj-panel">
            <a:extLst xmlns:a="http://schemas.openxmlformats.org/drawingml/2006/main">
              <a:ext uri="{FF2B5EF4-FFF2-40B4-BE49-F238E27FC236}">
                <a16:creationId xmlns:a16="http://schemas.microsoft.com/office/drawing/2014/main" id="{A30A8F40-6805-4E01-BB93-ABD1197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obj-accent">
            <a:extLst xmlns:a="http://schemas.openxmlformats.org/drawingml/2006/main">
              <a:ext uri="{FF2B5EF4-FFF2-40B4-BE49-F238E27FC236}">
                <a16:creationId xmlns:a16="http://schemas.microsoft.com/office/drawing/2014/main" id="{5B100EBC-03A0-4FBF-BAA8-1A6EE971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7" name="obj-heading">
            <a:extLst xmlns:a="http://schemas.openxmlformats.org/drawingml/2006/main">
              <a:ext uri="{FF2B5EF4-FFF2-40B4-BE49-F238E27FC236}">
                <a16:creationId xmlns:a16="http://schemas.microsoft.com/office/drawing/2014/main" id="{0FF28D1D-ED11-4EEE-98A5-6BB37866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Объект</a:t>
            </a:r>
          </a:p>
        </p:txBody>
      </p:sp>
      <p:sp>
        <p:nvSpPr>
          <p:cNvPr id="18" name="obj-body">
            <a:extLst xmlns:a="http://schemas.openxmlformats.org/drawingml/2006/main">
              <a:ext uri="{FF2B5EF4-FFF2-40B4-BE49-F238E27FC236}">
                <a16:creationId xmlns:a16="http://schemas.microsoft.com/office/drawing/2014/main" id="{32049B6A-62E9-4D41-B528-0FDA3755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2291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Процесс обучения основам программирования и цифровые инструменты поддержки начинающих студентов.</a:t>
            </a:r>
          </a:p>
        </p:txBody>
      </p:sp>
      <p:sp>
        <p:nvSpPr>
          <p:cNvPr id="19" name="subj-panel">
            <a:extLst xmlns:a="http://schemas.openxmlformats.org/drawingml/2006/main">
              <a:ext uri="{FF2B5EF4-FFF2-40B4-BE49-F238E27FC236}">
                <a16:creationId xmlns:a16="http://schemas.microsoft.com/office/drawing/2014/main" id="{E2BFAE30-44E9-47FC-B704-8676137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8003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subj-accent">
            <a:extLst xmlns:a="http://schemas.openxmlformats.org/drawingml/2006/main">
              <a:ext uri="{FF2B5EF4-FFF2-40B4-BE49-F238E27FC236}">
                <a16:creationId xmlns:a16="http://schemas.microsoft.com/office/drawing/2014/main" id="{8E34B872-B2CE-4C19-9F3F-30FFC724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8003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1" name="subj-heading">
            <a:extLst xmlns:a="http://schemas.openxmlformats.org/drawingml/2006/main">
              <a:ext uri="{FF2B5EF4-FFF2-40B4-BE49-F238E27FC236}">
                <a16:creationId xmlns:a16="http://schemas.microsoft.com/office/drawing/2014/main" id="{967A96CF-4831-472D-96A7-F9382774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048000"/>
            <a:ext cx="4610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Предмет</a:t>
            </a:r>
          </a:p>
        </p:txBody>
      </p:sp>
      <p:sp>
        <p:nvSpPr>
          <p:cNvPr id="22" name="subj-body">
            <a:extLst xmlns:a="http://schemas.openxmlformats.org/drawingml/2006/main">
              <a:ext uri="{FF2B5EF4-FFF2-40B4-BE49-F238E27FC236}">
                <a16:creationId xmlns:a16="http://schemas.microsoft.com/office/drawing/2014/main" id="{F3B81143-17E8-4354-BE52-861E74FC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619500"/>
            <a:ext cx="46101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Игра-платформер как образовательный инструмент: механики, уровни, подсказки и ИИ-модуль.</a:t>
            </a:r>
          </a:p>
        </p:txBody>
      </p:sp>
      <p:sp>
        <p:nvSpPr>
          <p:cNvPr id="23" name="t1-dot">
            <a:extLst xmlns:a="http://schemas.openxmlformats.org/drawingml/2006/main">
              <a:ext uri="{FF2B5EF4-FFF2-40B4-BE49-F238E27FC236}">
                <a16:creationId xmlns:a16="http://schemas.microsoft.com/office/drawing/2014/main" id="{E3EC9D5E-7D49-41CA-B360-3D17C2F9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743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B9B"/>
          </a:solidFill>
        </p:spPr>
      </p:sp>
      <p:sp>
        <p:nvSpPr>
          <p:cNvPr id="24" name="t1-text">
            <a:extLst xmlns:a="http://schemas.openxmlformats.org/drawingml/2006/main">
              <a:ext uri="{FF2B5EF4-FFF2-40B4-BE49-F238E27FC236}">
                <a16:creationId xmlns:a16="http://schemas.microsoft.com/office/drawing/2014/main" id="{467D79B9-081E-4BC3-8213-51F6E33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6305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Проанализировать аналоги и подходы к game-based learning.</a:t>
            </a:r>
          </a:p>
        </p:txBody>
      </p:sp>
      <p:sp>
        <p:nvSpPr>
          <p:cNvPr id="25" name="t2-dot">
            <a:extLst xmlns:a="http://schemas.openxmlformats.org/drawingml/2006/main">
              <a:ext uri="{FF2B5EF4-FFF2-40B4-BE49-F238E27FC236}">
                <a16:creationId xmlns:a16="http://schemas.microsoft.com/office/drawing/2014/main" id="{3D3F1885-3B75-4126-A4A9-66861CEC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600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B9B"/>
          </a:solidFill>
        </p:spPr>
      </p:sp>
      <p:sp>
        <p:nvSpPr>
          <p:cNvPr id="26" name="t2-text">
            <a:extLst xmlns:a="http://schemas.openxmlformats.org/drawingml/2006/main">
              <a:ext uri="{FF2B5EF4-FFF2-40B4-BE49-F238E27FC236}">
                <a16:creationId xmlns:a16="http://schemas.microsoft.com/office/drawing/2014/main" id="{239AFAB3-28FF-4C1D-B6FC-3DC62CCD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77000"/>
            <a:ext cx="6305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Спроектировать игровую концепцию, уровни и учебные сценарии.</a:t>
            </a:r>
          </a:p>
        </p:txBody>
      </p:sp>
      <p:sp>
        <p:nvSpPr>
          <p:cNvPr id="27" name="t3-dot">
            <a:extLst xmlns:a="http://schemas.openxmlformats.org/drawingml/2006/main">
              <a:ext uri="{FF2B5EF4-FFF2-40B4-BE49-F238E27FC236}">
                <a16:creationId xmlns:a16="http://schemas.microsoft.com/office/drawing/2014/main" id="{D681F185-9265-49B3-A26F-E21C3DA9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43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8" name="t3-text">
            <a:extLst xmlns:a="http://schemas.openxmlformats.org/drawingml/2006/main">
              <a:ext uri="{FF2B5EF4-FFF2-40B4-BE49-F238E27FC236}">
                <a16:creationId xmlns:a16="http://schemas.microsoft.com/office/drawing/2014/main" id="{581F6EF5-48D4-4F04-B963-C52086E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19750"/>
            <a:ext cx="6305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Реализовать Godot-клиент и FastAPI-backend для заданий, проверки и подсказок.</a:t>
            </a:r>
          </a:p>
        </p:txBody>
      </p:sp>
      <p:sp>
        <p:nvSpPr>
          <p:cNvPr id="29" name="t4-dot">
            <a:extLst xmlns:a="http://schemas.openxmlformats.org/drawingml/2006/main">
              <a:ext uri="{FF2B5EF4-FFF2-40B4-BE49-F238E27FC236}">
                <a16:creationId xmlns:a16="http://schemas.microsoft.com/office/drawing/2014/main" id="{33AE06F4-11D5-4EB5-A33C-9B82337A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00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30" name="t4-text">
            <a:extLst xmlns:a="http://schemas.openxmlformats.org/drawingml/2006/main">
              <a:ext uri="{FF2B5EF4-FFF2-40B4-BE49-F238E27FC236}">
                <a16:creationId xmlns:a16="http://schemas.microsoft.com/office/drawing/2014/main" id="{AC8EA4E5-6F7C-47A8-9726-42E5BEB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77000"/>
            <a:ext cx="6305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Провести пилотное тестирование и оценить поведение игроков по логам.</a:t>
            </a:r>
          </a:p>
        </p:txBody>
      </p:sp>
    </p:spTree>
    <p:extLst>
      <p:ext uri="{BB962C8B-B14F-4D97-AF65-F5344CB8AC3E}">
        <p14:creationId xmlns:p14="http://schemas.microsoft.com/office/powerpoint/2010/main" val="6927455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9A924DF-EEA1-48DD-8817-D85A38F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4">
            <a:extLst xmlns:a="http://schemas.openxmlformats.org/drawingml/2006/main">
              <a:ext uri="{FF2B5EF4-FFF2-40B4-BE49-F238E27FC236}">
                <a16:creationId xmlns:a16="http://schemas.microsoft.com/office/drawing/2014/main" id="{EAF1E82E-4A46-4C73-9C63-3446845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4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A1CB579-7EE9-44FC-BADB-FE2238B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Теоретическая основа и аналоги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E33111DB-8A6C-4255-BFE7-0C4D3EA1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В презентации оставлены только понятия, которые объясняют проектное решение.</a:t>
            </a:r>
          </a:p>
        </p:txBody>
      </p:sp>
      <p:sp>
        <p:nvSpPr>
          <p:cNvPr id="5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9E8DD15D-4A64-4CF7-AE41-C5D110BC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3b9decfde4f75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B7372866-7A15-4191-87ED-AC0541F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3565265C-430E-4D78-9AF0-D0D4066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AD3FA0DF-477F-4E97-96D6-2354716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Теория</a:t>
            </a:r>
          </a:p>
        </p:txBody>
      </p:sp>
      <p:sp>
        <p:nvSpPr>
          <p:cNvPr id="1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6FF9F30-6A77-417F-856A-2EB7C75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4</a:t>
            </a:r>
          </a:p>
        </p:txBody>
      </p:sp>
      <p:sp>
        <p:nvSpPr>
          <p:cNvPr id="11" name="theory1-panel">
            <a:extLst xmlns:a="http://schemas.openxmlformats.org/drawingml/2006/main">
              <a:ext uri="{FF2B5EF4-FFF2-40B4-BE49-F238E27FC236}">
                <a16:creationId xmlns:a16="http://schemas.microsoft.com/office/drawing/2014/main" id="{7A5A7C48-87E9-4266-88DE-D8E1DE8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theory1-accent">
            <a:extLst xmlns:a="http://schemas.openxmlformats.org/drawingml/2006/main">
              <a:ext uri="{FF2B5EF4-FFF2-40B4-BE49-F238E27FC236}">
                <a16:creationId xmlns:a16="http://schemas.microsoft.com/office/drawing/2014/main" id="{1A62EA13-F033-484D-8CC2-3802DD84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3" name="theory1-heading">
            <a:extLst xmlns:a="http://schemas.openxmlformats.org/drawingml/2006/main">
              <a:ext uri="{FF2B5EF4-FFF2-40B4-BE49-F238E27FC236}">
                <a16:creationId xmlns:a16="http://schemas.microsoft.com/office/drawing/2014/main" id="{C94F7EE9-065E-4EF7-984F-185E924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Game-based learning</a:t>
            </a:r>
          </a:p>
        </p:txBody>
      </p:sp>
      <p:sp>
        <p:nvSpPr>
          <p:cNvPr id="14" name="theory1-body">
            <a:extLst xmlns:a="http://schemas.openxmlformats.org/drawingml/2006/main">
              <a:ext uri="{FF2B5EF4-FFF2-40B4-BE49-F238E27FC236}">
                <a16:creationId xmlns:a16="http://schemas.microsoft.com/office/drawing/2014/main" id="{03A65614-99FF-4D9B-B8C4-7BDE08E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Игровая цель задает контекст, а обратная связь помогает закреплять понятия через действие.</a:t>
            </a:r>
          </a:p>
        </p:txBody>
      </p:sp>
      <p:sp>
        <p:nvSpPr>
          <p:cNvPr id="15" name="theory2-panel">
            <a:extLst xmlns:a="http://schemas.openxmlformats.org/drawingml/2006/main">
              <a:ext uri="{FF2B5EF4-FFF2-40B4-BE49-F238E27FC236}">
                <a16:creationId xmlns:a16="http://schemas.microsoft.com/office/drawing/2014/main" id="{1D8BCF6F-67EE-44DE-8EAC-0312DA8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theory2-accent">
            <a:extLst xmlns:a="http://schemas.openxmlformats.org/drawingml/2006/main">
              <a:ext uri="{FF2B5EF4-FFF2-40B4-BE49-F238E27FC236}">
                <a16:creationId xmlns:a16="http://schemas.microsoft.com/office/drawing/2014/main" id="{C3944BFB-4BB5-4357-80B1-B9F75BB1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7" name="theory2-heading">
            <a:extLst xmlns:a="http://schemas.openxmlformats.org/drawingml/2006/main">
              <a:ext uri="{FF2B5EF4-FFF2-40B4-BE49-F238E27FC236}">
                <a16:creationId xmlns:a16="http://schemas.microsoft.com/office/drawing/2014/main" id="{22B55CB7-B0CB-4BF9-AA93-16CEF5A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Constructive alignment</a:t>
            </a:r>
          </a:p>
        </p:txBody>
      </p:sp>
      <p:sp>
        <p:nvSpPr>
          <p:cNvPr id="18" name="theory2-body">
            <a:extLst xmlns:a="http://schemas.openxmlformats.org/drawingml/2006/main">
              <a:ext uri="{FF2B5EF4-FFF2-40B4-BE49-F238E27FC236}">
                <a16:creationId xmlns:a16="http://schemas.microsoft.com/office/drawing/2014/main" id="{74C2C2A1-F28C-494A-9921-6EB09D41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Задания, механики уровня и критерии проверки должны измерять один и тот же навык.</a:t>
            </a:r>
          </a:p>
        </p:txBody>
      </p:sp>
      <p:sp>
        <p:nvSpPr>
          <p:cNvPr id="19" name="theory3-panel">
            <a:extLst xmlns:a="http://schemas.openxmlformats.org/drawingml/2006/main">
              <a:ext uri="{FF2B5EF4-FFF2-40B4-BE49-F238E27FC236}">
                <a16:creationId xmlns:a16="http://schemas.microsoft.com/office/drawing/2014/main" id="{097C6A05-996B-447F-B016-843EF9F7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theory3-accent">
            <a:extLst xmlns:a="http://schemas.openxmlformats.org/drawingml/2006/main">
              <a:ext uri="{FF2B5EF4-FFF2-40B4-BE49-F238E27FC236}">
                <a16:creationId xmlns:a16="http://schemas.microsoft.com/office/drawing/2014/main" id="{E5BF9931-B5C0-4473-9BDE-F4BD45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1" name="theory3-heading">
            <a:extLst xmlns:a="http://schemas.openxmlformats.org/drawingml/2006/main">
              <a:ext uri="{FF2B5EF4-FFF2-40B4-BE49-F238E27FC236}">
                <a16:creationId xmlns:a16="http://schemas.microsoft.com/office/drawing/2014/main" id="{19ECDD50-AE2E-482E-AF4A-5D5686D4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AI scaffolding</a:t>
            </a:r>
          </a:p>
        </p:txBody>
      </p:sp>
      <p:sp>
        <p:nvSpPr>
          <p:cNvPr id="22" name="theory3-body">
            <a:extLst xmlns:a="http://schemas.openxmlformats.org/drawingml/2006/main">
              <a:ext uri="{FF2B5EF4-FFF2-40B4-BE49-F238E27FC236}">
                <a16:creationId xmlns:a16="http://schemas.microsoft.com/office/drawing/2014/main" id="{341AA38F-3171-441D-A1A8-8E135ABE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ИИ используется как поддержка: подсказка, объяснение ошибки и рекомендация, а не готовое решение.</a:t>
            </a:r>
          </a:p>
        </p:txBody>
      </p:sp>
      <p:sp>
        <p:nvSpPr>
          <p:cNvPr id="23" name="analogs-title">
            <a:extLst xmlns:a="http://schemas.openxmlformats.org/drawingml/2006/main">
              <a:ext uri="{FF2B5EF4-FFF2-40B4-BE49-F238E27FC236}">
                <a16:creationId xmlns:a16="http://schemas.microsoft.com/office/drawing/2014/main" id="{FD2736A7-B1D1-499E-85B0-898CF0EC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769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D69"/>
                </a:solidFill>
              </a:defRPr>
            </a:pPr>
            <a:r>
              <a:t>Вывод из анализа аналогов</a:t>
            </a:r>
          </a:p>
        </p:txBody>
      </p:sp>
      <p:sp>
        <p:nvSpPr>
          <p:cNvPr id="24" name="a1-dot">
            <a:extLst xmlns:a="http://schemas.openxmlformats.org/drawingml/2006/main">
              <a:ext uri="{FF2B5EF4-FFF2-40B4-BE49-F238E27FC236}">
                <a16:creationId xmlns:a16="http://schemas.microsoft.com/office/drawing/2014/main" id="{2BCEA959-97F7-47EA-B6EE-B50C4D6D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924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5" name="a1-text">
            <a:extLst xmlns:a="http://schemas.openxmlformats.org/drawingml/2006/main">
              <a:ext uri="{FF2B5EF4-FFF2-40B4-BE49-F238E27FC236}">
                <a16:creationId xmlns:a16="http://schemas.microsoft.com/office/drawing/2014/main" id="{AAB29355-5CE3-4C44-9F38-D9D1D57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800850"/>
            <a:ext cx="6305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CodeCombat и похожие системы доказывают ценность обучения через действие.</a:t>
            </a:r>
          </a:p>
        </p:txBody>
      </p:sp>
      <p:sp>
        <p:nvSpPr>
          <p:cNvPr id="26" name="a2-dot">
            <a:extLst xmlns:a="http://schemas.openxmlformats.org/drawingml/2006/main">
              <a:ext uri="{FF2B5EF4-FFF2-40B4-BE49-F238E27FC236}">
                <a16:creationId xmlns:a16="http://schemas.microsoft.com/office/drawing/2014/main" id="{FEA2A990-3F31-427B-90D6-0AD67844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781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7" name="a2-text">
            <a:extLst xmlns:a="http://schemas.openxmlformats.org/drawingml/2006/main">
              <a:ext uri="{FF2B5EF4-FFF2-40B4-BE49-F238E27FC236}">
                <a16:creationId xmlns:a16="http://schemas.microsoft.com/office/drawing/2014/main" id="{B9FB7B9D-91B3-42B2-8830-B6573EB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658100"/>
            <a:ext cx="6972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Для ВКР важнее не масштаб платформы, а связка «уровень - код - подсказка - логирование».</a:t>
            </a:r>
          </a:p>
        </p:txBody>
      </p:sp>
      <p:pic>
        <p:nvPicPr>
          <p:cNvPr id="28" name="theory-lo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3ffec1f1e40c1"/>
          <a:stretch xmlns:a="http://schemas.openxmlformats.org/drawingml/2006/main"/>
        </p:blipFill>
        <p:spPr>
          <a:xfrm xmlns:a="http://schemas.openxmlformats.org/drawingml/2006/main">
            <a:off x="11286778" y="6000750"/>
            <a:ext cx="2896294" cy="2171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87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3E139D7-F515-418D-982D-2F84AB9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5">
            <a:extLst xmlns:a="http://schemas.openxmlformats.org/drawingml/2006/main">
              <a:ext uri="{FF2B5EF4-FFF2-40B4-BE49-F238E27FC236}">
                <a16:creationId xmlns:a16="http://schemas.microsoft.com/office/drawing/2014/main" id="{191D2AD9-9988-4CE0-B350-436ECB2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5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7C2F073C-47F7-4142-9AEA-0516FAB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Концепция Skill Issue: код открывает игровой прогресс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AF6B063F-5602-482F-9EFA-383B687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Игрок решает учебные задачи, а результат сразу проявляется в уровне.</a:t>
            </a:r>
          </a:p>
        </p:txBody>
      </p:sp>
      <p:sp>
        <p:nvSpPr>
          <p:cNvPr id="5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33E8676-3E4C-4967-8F22-3F2076A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9c7a1eb1b4684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2755BBAA-8CE2-4607-87BE-FB69D241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79C39761-E42F-48DF-8F89-6FAB9F8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2EDFA3AE-5298-4F07-B516-58FF754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Концепция</a:t>
            </a:r>
          </a:p>
        </p:txBody>
      </p:sp>
      <p:sp>
        <p:nvSpPr>
          <p:cNvPr id="1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D225F035-8400-45F6-94C0-6A9A545D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5</a:t>
            </a:r>
          </a:p>
        </p:txBody>
      </p:sp>
      <p:pic>
        <p:nvPicPr>
          <p:cNvPr id="11" name="concep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62411a7f42a8"/>
          <a:stretch xmlns:a="http://schemas.openxmlformats.org/drawingml/2006/main"/>
        </p:blipFill>
        <p:spPr>
          <a:xfrm xmlns:a="http://schemas.openxmlformats.org/drawingml/2006/main">
            <a:off x="2318419" y="2857500"/>
            <a:ext cx="5459663" cy="4095750"/>
          </a:xfrm>
          <a:prstGeom xmlns:a="http://schemas.openxmlformats.org/drawingml/2006/main" prst="rect">
            <a:avLst/>
          </a:prstGeom>
        </p:spPr>
      </p:pic>
      <p:sp>
        <p:nvSpPr>
          <p:cNvPr id="12" name="c-pill1-box">
            <a:extLst xmlns:a="http://schemas.openxmlformats.org/drawingml/2006/main">
              <a:ext uri="{FF2B5EF4-FFF2-40B4-BE49-F238E27FC236}">
                <a16:creationId xmlns:a16="http://schemas.microsoft.com/office/drawing/2014/main" id="{990BE463-3519-4150-BA26-C088E49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3" name="c-pill1-text">
            <a:extLst xmlns:a="http://schemas.openxmlformats.org/drawingml/2006/main">
              <a:ext uri="{FF2B5EF4-FFF2-40B4-BE49-F238E27FC236}">
                <a16:creationId xmlns:a16="http://schemas.microsoft.com/office/drawing/2014/main" id="{C67BB70F-6D9B-4FB6-A703-10D317EC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480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t>переменные</a:t>
            </a:r>
          </a:p>
        </p:txBody>
      </p:sp>
      <p:sp>
        <p:nvSpPr>
          <p:cNvPr id="14" name="c-pill2-box">
            <a:extLst xmlns:a="http://schemas.openxmlformats.org/drawingml/2006/main">
              <a:ext uri="{FF2B5EF4-FFF2-40B4-BE49-F238E27FC236}">
                <a16:creationId xmlns:a16="http://schemas.microsoft.com/office/drawing/2014/main" id="{7DA1ED57-42F4-463C-8F64-7A5CD42E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527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5" name="c-pill2-text">
            <a:extLst xmlns:a="http://schemas.openxmlformats.org/drawingml/2006/main">
              <a:ext uri="{FF2B5EF4-FFF2-40B4-BE49-F238E27FC236}">
                <a16:creationId xmlns:a16="http://schemas.microsoft.com/office/drawing/2014/main" id="{D1FBBB8F-4BAC-49BF-AE4F-28565936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48000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t>условия</a:t>
            </a:r>
          </a:p>
        </p:txBody>
      </p:sp>
      <p:sp>
        <p:nvSpPr>
          <p:cNvPr id="16" name="c-pill3-box">
            <a:extLst xmlns:a="http://schemas.openxmlformats.org/drawingml/2006/main">
              <a:ext uri="{FF2B5EF4-FFF2-40B4-BE49-F238E27FC236}">
                <a16:creationId xmlns:a16="http://schemas.microsoft.com/office/drawing/2014/main" id="{645DF453-0CBD-4C1C-9427-B80A2E3C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527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17" name="c-pill3-text">
            <a:extLst xmlns:a="http://schemas.openxmlformats.org/drawingml/2006/main">
              <a:ext uri="{FF2B5EF4-FFF2-40B4-BE49-F238E27FC236}">
                <a16:creationId xmlns:a16="http://schemas.microsoft.com/office/drawing/2014/main" id="{741C9AD8-B3DD-496B-A7FB-A9BD9545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0480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t>циклы</a:t>
            </a:r>
          </a:p>
        </p:txBody>
      </p:sp>
      <p:sp>
        <p:nvSpPr>
          <p:cNvPr id="18" name="c-pill4-box">
            <a:extLst xmlns:a="http://schemas.openxmlformats.org/drawingml/2006/main">
              <a:ext uri="{FF2B5EF4-FFF2-40B4-BE49-F238E27FC236}">
                <a16:creationId xmlns:a16="http://schemas.microsoft.com/office/drawing/2014/main" id="{13EC24DB-E3DE-4E4C-8EFF-D2ECF0F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19" name="c-pill4-text">
            <a:extLst xmlns:a="http://schemas.openxmlformats.org/drawingml/2006/main">
              <a:ext uri="{FF2B5EF4-FFF2-40B4-BE49-F238E27FC236}">
                <a16:creationId xmlns:a16="http://schemas.microsoft.com/office/drawing/2014/main" id="{02FD3D11-BD9B-4CC7-ADEB-555CDCF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71900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t>функции</a:t>
            </a:r>
          </a:p>
        </p:txBody>
      </p:sp>
      <p:sp>
        <p:nvSpPr>
          <p:cNvPr id="20" name="c1-dot">
            <a:extLst xmlns:a="http://schemas.openxmlformats.org/drawingml/2006/main">
              <a:ext uri="{FF2B5EF4-FFF2-40B4-BE49-F238E27FC236}">
                <a16:creationId xmlns:a16="http://schemas.microsoft.com/office/drawing/2014/main" id="{8BA543E2-A65F-48D8-B0BA-BA53A2F5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1" name="c1-text">
            <a:extLst xmlns:a="http://schemas.openxmlformats.org/drawingml/2006/main">
              <a:ext uri="{FF2B5EF4-FFF2-40B4-BE49-F238E27FC236}">
                <a16:creationId xmlns:a16="http://schemas.microsoft.com/office/drawing/2014/main" id="{42D5DC0D-CB64-43B0-A94D-3FD1FB01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10125"/>
            <a:ext cx="601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Задачи встроены в сундуки, алтари, врагов и боссов.</a:t>
            </a:r>
          </a:p>
        </p:txBody>
      </p:sp>
      <p:sp>
        <p:nvSpPr>
          <p:cNvPr id="22" name="c2-dot">
            <a:extLst xmlns:a="http://schemas.openxmlformats.org/drawingml/2006/main">
              <a:ext uri="{FF2B5EF4-FFF2-40B4-BE49-F238E27FC236}">
                <a16:creationId xmlns:a16="http://schemas.microsoft.com/office/drawing/2014/main" id="{18BA2DE0-F0EF-45C6-9F0F-97DB5B0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91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3" name="c2-text">
            <a:extLst xmlns:a="http://schemas.openxmlformats.org/drawingml/2006/main">
              <a:ext uri="{FF2B5EF4-FFF2-40B4-BE49-F238E27FC236}">
                <a16:creationId xmlns:a16="http://schemas.microsoft.com/office/drawing/2014/main" id="{9C37DA1A-84F8-400B-9564-A294097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67375"/>
            <a:ext cx="601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Ошибки не прерывают игру: игрок получает диагностическую подсказку.</a:t>
            </a:r>
          </a:p>
        </p:txBody>
      </p:sp>
      <p:sp>
        <p:nvSpPr>
          <p:cNvPr id="24" name="c3-dot">
            <a:extLst xmlns:a="http://schemas.openxmlformats.org/drawingml/2006/main">
              <a:ext uri="{FF2B5EF4-FFF2-40B4-BE49-F238E27FC236}">
                <a16:creationId xmlns:a16="http://schemas.microsoft.com/office/drawing/2014/main" id="{D8030A0C-7827-4B22-B5C3-FFA9315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48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5" name="c3-text">
            <a:extLst xmlns:a="http://schemas.openxmlformats.org/drawingml/2006/main">
              <a:ext uri="{FF2B5EF4-FFF2-40B4-BE49-F238E27FC236}">
                <a16:creationId xmlns:a16="http://schemas.microsoft.com/office/drawing/2014/main" id="{90F5DF5A-91EB-4D77-94C2-5F8D382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524625"/>
            <a:ext cx="601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Сложность растет по темам: от переменных к интеграционным сценариям.</a:t>
            </a:r>
          </a:p>
        </p:txBody>
      </p:sp>
      <p:sp>
        <p:nvSpPr>
          <p:cNvPr id="26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56AE8254-B0CC-4205-BE15-86A34158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67625"/>
            <a:ext cx="609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2D69"/>
                </a:solidFill>
              </a:defRPr>
            </a:pPr>
            <a:r>
              <a:t>Так защита показывает не только интерфейс, но и педагогическую логику прототипа.</a:t>
            </a:r>
          </a:p>
        </p:txBody>
      </p:sp>
    </p:spTree>
    <p:extLst>
      <p:ext uri="{BB962C8B-B14F-4D97-AF65-F5344CB8AC3E}">
        <p14:creationId xmlns:p14="http://schemas.microsoft.com/office/powerpoint/2010/main" val="14673646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D98AB00-7F51-45C7-938B-796FCD4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6">
            <a:extLst xmlns:a="http://schemas.openxmlformats.org/drawingml/2006/main">
              <a:ext uri="{FF2B5EF4-FFF2-40B4-BE49-F238E27FC236}">
                <a16:creationId xmlns:a16="http://schemas.microsoft.com/office/drawing/2014/main" id="{74F4675F-24D8-427F-8C61-50B98CAD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6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F5E3B4B6-C089-4CBA-83AA-8C986E68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Архитектура: Godot-клиент и FastAPI-backend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D6CCA7A6-5B4B-4CF6-A315-BF2E17FD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Разделение логики позволяет независимо развивать игру, проверку кода и ИИ-подсказки.</a:t>
            </a:r>
          </a:p>
        </p:txBody>
      </p:sp>
      <p:sp>
        <p:nvSpPr>
          <p:cNvPr id="5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22091949-BE25-4153-8E0C-82F5B18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ebf00b45469b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F4AED634-A743-4EC4-BF0C-FA36879A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447330C9-C555-4F56-A24A-76A9800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DE8C5763-A2C1-4608-ADEC-B850629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Архитектура</a:t>
            </a:r>
          </a:p>
        </p:txBody>
      </p:sp>
      <p:sp>
        <p:nvSpPr>
          <p:cNvPr id="1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D5AE2D6-4F4F-4BBC-9A07-BBBA9B1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6</a:t>
            </a:r>
          </a:p>
        </p:txBody>
      </p:sp>
      <p:pic>
        <p:nvPicPr>
          <p:cNvPr id="11" name="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c926d74064510"/>
          <a:stretch xmlns:a="http://schemas.openxmlformats.org/drawingml/2006/main"/>
        </p:blipFill>
        <p:spPr>
          <a:xfrm xmlns:a="http://schemas.openxmlformats.org/drawingml/2006/main">
            <a:off x="2095965" y="2667000"/>
            <a:ext cx="6323671" cy="4762500"/>
          </a:xfrm>
          <a:prstGeom xmlns:a="http://schemas.openxmlformats.org/drawingml/2006/main" prst="rect">
            <a:avLst/>
          </a:prstGeom>
        </p:spPr>
      </p:pic>
      <p:sp>
        <p:nvSpPr>
          <p:cNvPr id="12" name="arch1-panel">
            <a:extLst xmlns:a="http://schemas.openxmlformats.org/drawingml/2006/main">
              <a:ext uri="{FF2B5EF4-FFF2-40B4-BE49-F238E27FC236}">
                <a16:creationId xmlns:a16="http://schemas.microsoft.com/office/drawing/2014/main" id="{1A6AD350-7780-49D4-B779-C200D672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arch1-accent">
            <a:extLst xmlns:a="http://schemas.openxmlformats.org/drawingml/2006/main">
              <a:ext uri="{FF2B5EF4-FFF2-40B4-BE49-F238E27FC236}">
                <a16:creationId xmlns:a16="http://schemas.microsoft.com/office/drawing/2014/main" id="{0B438518-6C69-4844-9776-E127616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561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4" name="arch1-heading">
            <a:extLst xmlns:a="http://schemas.openxmlformats.org/drawingml/2006/main">
              <a:ext uri="{FF2B5EF4-FFF2-40B4-BE49-F238E27FC236}">
                <a16:creationId xmlns:a16="http://schemas.microsoft.com/office/drawing/2014/main" id="{FCDE46B2-0461-419F-9013-D587F2A5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Godot 4</a:t>
            </a:r>
          </a:p>
        </p:txBody>
      </p:sp>
      <p:sp>
        <p:nvSpPr>
          <p:cNvPr id="15" name="arch1-body">
            <a:extLst xmlns:a="http://schemas.openxmlformats.org/drawingml/2006/main">
              <a:ext uri="{FF2B5EF4-FFF2-40B4-BE49-F238E27FC236}">
                <a16:creationId xmlns:a16="http://schemas.microsoft.com/office/drawing/2014/main" id="{9BE447F2-B37B-4EA7-8A57-C8BF3F8B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00450"/>
            <a:ext cx="5086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Сцены уровней, игрок, враги, коллизии, терминал, UI, пауза и события прохождения.</a:t>
            </a:r>
          </a:p>
        </p:txBody>
      </p:sp>
      <p:sp>
        <p:nvSpPr>
          <p:cNvPr id="16" name="arch2-panel">
            <a:extLst xmlns:a="http://schemas.openxmlformats.org/drawingml/2006/main">
              <a:ext uri="{FF2B5EF4-FFF2-40B4-BE49-F238E27FC236}">
                <a16:creationId xmlns:a16="http://schemas.microsoft.com/office/drawing/2014/main" id="{190737B7-11B0-4FFA-A483-365C466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910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arch2-accent">
            <a:extLst xmlns:a="http://schemas.openxmlformats.org/drawingml/2006/main">
              <a:ext uri="{FF2B5EF4-FFF2-40B4-BE49-F238E27FC236}">
                <a16:creationId xmlns:a16="http://schemas.microsoft.com/office/drawing/2014/main" id="{D4E3C414-6540-4BC4-84A2-C967A6C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91050"/>
            <a:ext cx="561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8" name="arch2-heading">
            <a:extLst xmlns:a="http://schemas.openxmlformats.org/drawingml/2006/main">
              <a:ext uri="{FF2B5EF4-FFF2-40B4-BE49-F238E27FC236}">
                <a16:creationId xmlns:a16="http://schemas.microsoft.com/office/drawing/2014/main" id="{7F27D2C5-7B53-4B78-A01E-BDBEA51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3870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FastAPI</a:t>
            </a:r>
          </a:p>
        </p:txBody>
      </p:sp>
      <p:sp>
        <p:nvSpPr>
          <p:cNvPr id="19" name="arch2-body">
            <a:extLst xmlns:a="http://schemas.openxmlformats.org/drawingml/2006/main">
              <a:ext uri="{FF2B5EF4-FFF2-40B4-BE49-F238E27FC236}">
                <a16:creationId xmlns:a16="http://schemas.microsoft.com/office/drawing/2014/main" id="{CC6B3F01-DE56-4E96-BD0D-073D7A64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10200"/>
            <a:ext cx="5086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Генерация заданий, валидация решений, маршруты подсказок, журналирование действий.</a:t>
            </a:r>
          </a:p>
        </p:txBody>
      </p:sp>
      <p:sp>
        <p:nvSpPr>
          <p:cNvPr id="20" name="arch3-panel">
            <a:extLst xmlns:a="http://schemas.openxmlformats.org/drawingml/2006/main">
              <a:ext uri="{FF2B5EF4-FFF2-40B4-BE49-F238E27FC236}">
                <a16:creationId xmlns:a16="http://schemas.microsoft.com/office/drawing/2014/main" id="{D1E0781A-641A-461F-A58A-F04E8ED5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0080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arch3-accent">
            <a:extLst xmlns:a="http://schemas.openxmlformats.org/drawingml/2006/main">
              <a:ext uri="{FF2B5EF4-FFF2-40B4-BE49-F238E27FC236}">
                <a16:creationId xmlns:a16="http://schemas.microsoft.com/office/drawing/2014/main" id="{15DCBBB3-9A66-464F-AAFC-506D999B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00800"/>
            <a:ext cx="561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2" name="arch3-heading">
            <a:extLst xmlns:a="http://schemas.openxmlformats.org/drawingml/2006/main">
              <a:ext uri="{FF2B5EF4-FFF2-40B4-BE49-F238E27FC236}">
                <a16:creationId xmlns:a16="http://schemas.microsoft.com/office/drawing/2014/main" id="{ACC88ED9-862D-4045-B5BB-29DBC141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4845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AI-модуль</a:t>
            </a:r>
          </a:p>
        </p:txBody>
      </p:sp>
      <p:sp>
        <p:nvSpPr>
          <p:cNvPr id="23" name="arch3-body">
            <a:extLst xmlns:a="http://schemas.openxmlformats.org/drawingml/2006/main">
              <a:ext uri="{FF2B5EF4-FFF2-40B4-BE49-F238E27FC236}">
                <a16:creationId xmlns:a16="http://schemas.microsoft.com/office/drawing/2014/main" id="{FA5EDDD5-560F-42ED-BC91-5B146FA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19950"/>
            <a:ext cx="50863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Формирует контекстные объяснения по ошибке, теме и состоянию попытки.</a:t>
            </a:r>
          </a:p>
        </p:txBody>
      </p:sp>
      <p:sp>
        <p:nvSpPr>
          <p:cNvPr id="24" name="arch-flow">
            <a:extLst xmlns:a="http://schemas.openxmlformats.org/drawingml/2006/main">
              <a:ext uri="{FF2B5EF4-FFF2-40B4-BE49-F238E27FC236}">
                <a16:creationId xmlns:a16="http://schemas.microsoft.com/office/drawing/2014/main" id="{58BE84DA-8030-4694-A9F4-EC1DB3EA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867650"/>
            <a:ext cx="1257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25" name="arch-flow-text">
            <a:extLst xmlns:a="http://schemas.openxmlformats.org/drawingml/2006/main">
              <a:ext uri="{FF2B5EF4-FFF2-40B4-BE49-F238E27FC236}">
                <a16:creationId xmlns:a16="http://schemas.microsoft.com/office/drawing/2014/main" id="{A6C1F845-C0F5-4DFF-A651-6136EA36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115300"/>
            <a:ext cx="1123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2D69"/>
                </a:solidFill>
              </a:defRPr>
            </a:pPr>
            <a:r>
              <a:t>Игровое событие -&gt; задание -&gt; ввод кода -&gt; проверка -&gt; подсказка/успех -&gt; изменение уровня</a:t>
            </a:r>
          </a:p>
        </p:txBody>
      </p:sp>
    </p:spTree>
    <p:extLst>
      <p:ext uri="{BB962C8B-B14F-4D97-AF65-F5344CB8AC3E}">
        <p14:creationId xmlns:p14="http://schemas.microsoft.com/office/powerpoint/2010/main" val="1685350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A0692CC-5A08-4B2E-8CF9-A400E81B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7">
            <a:extLst xmlns:a="http://schemas.openxmlformats.org/drawingml/2006/main">
              <a:ext uri="{FF2B5EF4-FFF2-40B4-BE49-F238E27FC236}">
                <a16:creationId xmlns:a16="http://schemas.microsoft.com/office/drawing/2014/main" id="{214ABE8C-03A1-4B59-9A54-8BFB117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7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617BACA1-82D2-49EF-9134-2CDD5D7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Практическая реализация прототипа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FFE67704-8F88-41FD-AB9E-85FF4B0B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На защите важно показать, что продукт работает как целостная система.</a:t>
            </a:r>
          </a:p>
        </p:txBody>
      </p:sp>
      <p:sp>
        <p:nvSpPr>
          <p:cNvPr id="5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ECF6220A-CC05-415F-A1BC-16D83F51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90597fef04e24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978530E1-71E5-4EE3-BD0F-4E028DF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3D40BF4B-7362-43E1-A750-C99B2E1C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A64A3310-A688-4A5F-B856-472A707D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Реализация</a:t>
            </a:r>
          </a:p>
        </p:txBody>
      </p:sp>
      <p:sp>
        <p:nvSpPr>
          <p:cNvPr id="1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4EC533B-E94B-4C65-A14F-A5ED72FE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7</a:t>
            </a:r>
          </a:p>
        </p:txBody>
      </p:sp>
      <p:pic>
        <p:nvPicPr>
          <p:cNvPr id="11" name="gamepla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5c174a05148eb"/>
          <a:srcRect xmlns:a="http://schemas.openxmlformats.org/drawingml/2006/main" l="0" t="7858" r="0" b="78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8250" y="2857500"/>
            <a:ext cx="7239000" cy="3619500"/>
          </a:xfrm>
          <a:prstGeom xmlns:a="http://schemas.openxmlformats.org/drawingml/2006/main" prst="rect">
            <a:avLst/>
          </a:prstGeom>
        </p:spPr>
      </p:pic>
      <p:pic>
        <p:nvPicPr>
          <p:cNvPr id="12" name="termin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7c098567740ea"/>
          <a:srcRect xmlns:a="http://schemas.openxmlformats.org/drawingml/2006/main" l="0" t="8038" r="0" b="8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857500"/>
            <a:ext cx="7239000" cy="3619500"/>
          </a:xfrm>
          <a:prstGeom xmlns:a="http://schemas.openxmlformats.org/drawingml/2006/main" prst="rect">
            <a:avLst/>
          </a:prstGeom>
        </p:spPr>
      </p:pic>
      <p:sp>
        <p:nvSpPr>
          <p:cNvPr id="13" name="impl-line1">
            <a:extLst xmlns:a="http://schemas.openxmlformats.org/drawingml/2006/main">
              <a:ext uri="{FF2B5EF4-FFF2-40B4-BE49-F238E27FC236}">
                <a16:creationId xmlns:a16="http://schemas.microsoft.com/office/drawing/2014/main" id="{A5091339-4BE2-4DCB-8519-D025CA2C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4" name="impl-line2">
            <a:extLst xmlns:a="http://schemas.openxmlformats.org/drawingml/2006/main">
              <a:ext uri="{FF2B5EF4-FFF2-40B4-BE49-F238E27FC236}">
                <a16:creationId xmlns:a16="http://schemas.microsoft.com/office/drawing/2014/main" id="{F4FCDCC7-D14A-4B57-8D83-7859D9D7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6750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5" name="i1-dot">
            <a:extLst xmlns:a="http://schemas.openxmlformats.org/drawingml/2006/main">
              <a:ext uri="{FF2B5EF4-FFF2-40B4-BE49-F238E27FC236}">
                <a16:creationId xmlns:a16="http://schemas.microsoft.com/office/drawing/2014/main" id="{CDFA4350-3933-4A67-BB2D-69EDBB5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745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16" name="i1-text">
            <a:extLst xmlns:a="http://schemas.openxmlformats.org/drawingml/2006/main">
              <a:ext uri="{FF2B5EF4-FFF2-40B4-BE49-F238E27FC236}">
                <a16:creationId xmlns:a16="http://schemas.microsoft.com/office/drawing/2014/main" id="{2687D5F7-1E7D-4B0E-AC01-E5D6D81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334250"/>
            <a:ext cx="640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Уровни включают платформы, врагов, сундуки, алтари, боссы и терминальные задания.</a:t>
            </a:r>
          </a:p>
        </p:txBody>
      </p:sp>
      <p:sp>
        <p:nvSpPr>
          <p:cNvPr id="17" name="i2-dot">
            <a:extLst xmlns:a="http://schemas.openxmlformats.org/drawingml/2006/main">
              <a:ext uri="{FF2B5EF4-FFF2-40B4-BE49-F238E27FC236}">
                <a16:creationId xmlns:a16="http://schemas.microsoft.com/office/drawing/2014/main" id="{3433E2A2-2023-4488-844E-9A202A12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45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18" name="i2-text">
            <a:extLst xmlns:a="http://schemas.openxmlformats.org/drawingml/2006/main">
              <a:ext uri="{FF2B5EF4-FFF2-40B4-BE49-F238E27FC236}">
                <a16:creationId xmlns:a16="http://schemas.microsoft.com/office/drawing/2014/main" id="{1B8682D4-18A2-479A-AF95-D809BF4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34250"/>
            <a:ext cx="640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Проверка решения возвращает игровой эффект: открыть путь, усилить героя или завершить бой.</a:t>
            </a:r>
          </a:p>
        </p:txBody>
      </p:sp>
      <p:sp>
        <p:nvSpPr>
          <p:cNvPr id="19" name="i3-dot">
            <a:extLst xmlns:a="http://schemas.openxmlformats.org/drawingml/2006/main">
              <a:ext uri="{FF2B5EF4-FFF2-40B4-BE49-F238E27FC236}">
                <a16:creationId xmlns:a16="http://schemas.microsoft.com/office/drawing/2014/main" id="{A73FCB5B-F83B-4021-AE33-30A3CD87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22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1E3C"/>
          </a:solidFill>
        </p:spPr>
      </p:sp>
      <p:sp>
        <p:nvSpPr>
          <p:cNvPr id="20" name="i3-text">
            <a:extLst xmlns:a="http://schemas.openxmlformats.org/drawingml/2006/main">
              <a:ext uri="{FF2B5EF4-FFF2-40B4-BE49-F238E27FC236}">
                <a16:creationId xmlns:a16="http://schemas.microsoft.com/office/drawing/2014/main" id="{E64C6E89-6389-4C22-94B9-25F05C45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096250"/>
            <a:ext cx="640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430"/>
                </a:solidFill>
              </a:defRPr>
            </a:pPr>
            <a:r>
              <a:t>Логи фиксируют попытки, подсказки, ошибки и прохождение для дальнейшего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6318272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4D95281-ABD3-4012-A2BF-E42CCE2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8">
            <a:extLst xmlns:a="http://schemas.openxmlformats.org/drawingml/2006/main">
              <a:ext uri="{FF2B5EF4-FFF2-40B4-BE49-F238E27FC236}">
                <a16:creationId xmlns:a16="http://schemas.microsoft.com/office/drawing/2014/main" id="{C1E68FE7-8D7A-4406-859D-9A9D8657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8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F34AEB41-337D-4FFA-B959-2401A2F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ИИ-модуль: подсказка вместо готового ответа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AFA86A23-17BE-41E2-A534-241F5F7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Модель получает только учебный контекст и историю попытки.</a:t>
            </a:r>
          </a:p>
        </p:txBody>
      </p:sp>
      <p:sp>
        <p:nvSpPr>
          <p:cNvPr id="5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44BD281A-2728-4AB4-B214-44133DB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5a349e2a7447b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1E1A45B3-D714-448C-86E5-A4C4D3F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1BC39A58-187D-43E1-ABA5-EB797CF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4B323E6B-FA23-499A-A22F-84E424A4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ИИ</a:t>
            </a:r>
          </a:p>
        </p:txBody>
      </p:sp>
      <p:sp>
        <p:nvSpPr>
          <p:cNvPr id="1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1E68651-48A6-4F4A-992E-E86AD024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8</a:t>
            </a:r>
          </a:p>
        </p:txBody>
      </p:sp>
      <p:pic>
        <p:nvPicPr>
          <p:cNvPr id="11" name="ai-modu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6550fc03f4a57"/>
          <a:stretch xmlns:a="http://schemas.openxmlformats.org/drawingml/2006/main"/>
        </p:blipFill>
        <p:spPr>
          <a:xfrm xmlns:a="http://schemas.openxmlformats.org/drawingml/2006/main">
            <a:off x="1741291" y="2705100"/>
            <a:ext cx="6461518" cy="4572000"/>
          </a:xfrm>
          <a:prstGeom xmlns:a="http://schemas.openxmlformats.org/drawingml/2006/main" prst="rect">
            <a:avLst/>
          </a:prstGeom>
        </p:spPr>
      </p:pic>
      <p:sp>
        <p:nvSpPr>
          <p:cNvPr id="12" name="ai1-panel">
            <a:extLst xmlns:a="http://schemas.openxmlformats.org/drawingml/2006/main">
              <a:ext uri="{FF2B5EF4-FFF2-40B4-BE49-F238E27FC236}">
                <a16:creationId xmlns:a16="http://schemas.microsoft.com/office/drawing/2014/main" id="{66923C71-D4A2-45D7-B787-FB5D452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3" name="ai1-accent">
            <a:extLst xmlns:a="http://schemas.openxmlformats.org/drawingml/2006/main">
              <a:ext uri="{FF2B5EF4-FFF2-40B4-BE49-F238E27FC236}">
                <a16:creationId xmlns:a16="http://schemas.microsoft.com/office/drawing/2014/main" id="{7F77409B-E248-44EC-86BD-C54B1C6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609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4" name="ai1-heading">
            <a:extLst xmlns:a="http://schemas.openxmlformats.org/drawingml/2006/main">
              <a:ext uri="{FF2B5EF4-FFF2-40B4-BE49-F238E27FC236}">
                <a16:creationId xmlns:a16="http://schemas.microsoft.com/office/drawing/2014/main" id="{D693BC42-49ED-490C-BCD3-74EE1A91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556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Вход</a:t>
            </a:r>
          </a:p>
        </p:txBody>
      </p:sp>
      <p:sp>
        <p:nvSpPr>
          <p:cNvPr id="15" name="ai1-body">
            <a:extLst xmlns:a="http://schemas.openxmlformats.org/drawingml/2006/main">
              <a:ext uri="{FF2B5EF4-FFF2-40B4-BE49-F238E27FC236}">
                <a16:creationId xmlns:a16="http://schemas.microsoft.com/office/drawing/2014/main" id="{EFFA16FE-0F32-4393-BF08-C78F6B9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045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Тема, формулировка задания, код игрока, ошибка проверки и уровень помощи.</a:t>
            </a:r>
          </a:p>
        </p:txBody>
      </p:sp>
      <p:sp>
        <p:nvSpPr>
          <p:cNvPr id="16" name="ai2-panel">
            <a:extLst xmlns:a="http://schemas.openxmlformats.org/drawingml/2006/main">
              <a:ext uri="{FF2B5EF4-FFF2-40B4-BE49-F238E27FC236}">
                <a16:creationId xmlns:a16="http://schemas.microsoft.com/office/drawing/2014/main" id="{CAF4D0FB-E2B7-45CF-8963-D95838AC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7" name="ai2-accent">
            <a:extLst xmlns:a="http://schemas.openxmlformats.org/drawingml/2006/main">
              <a:ext uri="{FF2B5EF4-FFF2-40B4-BE49-F238E27FC236}">
                <a16:creationId xmlns:a16="http://schemas.microsoft.com/office/drawing/2014/main" id="{9FABFEDB-6A34-4A70-B626-F8FF1945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609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8" name="ai2-heading">
            <a:extLst xmlns:a="http://schemas.openxmlformats.org/drawingml/2006/main">
              <a:ext uri="{FF2B5EF4-FFF2-40B4-BE49-F238E27FC236}">
                <a16:creationId xmlns:a16="http://schemas.microsoft.com/office/drawing/2014/main" id="{DCC857D1-BAA3-4EC9-9622-8BCC0604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24400"/>
            <a:ext cx="556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Обработка</a:t>
            </a:r>
          </a:p>
        </p:txBody>
      </p:sp>
      <p:sp>
        <p:nvSpPr>
          <p:cNvPr id="19" name="ai2-body">
            <a:extLst xmlns:a="http://schemas.openxmlformats.org/drawingml/2006/main">
              <a:ext uri="{FF2B5EF4-FFF2-40B4-BE49-F238E27FC236}">
                <a16:creationId xmlns:a16="http://schemas.microsoft.com/office/drawing/2014/main" id="{C23724B6-68EB-4D21-831B-0FAA8A55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9590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Backend собирает промпт, ограничивает формат ответа и сохраняет событие в лог.</a:t>
            </a:r>
          </a:p>
        </p:txBody>
      </p:sp>
      <p:sp>
        <p:nvSpPr>
          <p:cNvPr id="20" name="ai3-panel">
            <a:extLst xmlns:a="http://schemas.openxmlformats.org/drawingml/2006/main">
              <a:ext uri="{FF2B5EF4-FFF2-40B4-BE49-F238E27FC236}">
                <a16:creationId xmlns:a16="http://schemas.microsoft.com/office/drawing/2014/main" id="{F153687A-27D9-4E2C-B2BA-620BB159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7220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1" name="ai3-accent">
            <a:extLst xmlns:a="http://schemas.openxmlformats.org/drawingml/2006/main">
              <a:ext uri="{FF2B5EF4-FFF2-40B4-BE49-F238E27FC236}">
                <a16:creationId xmlns:a16="http://schemas.microsoft.com/office/drawing/2014/main" id="{B7722912-8D2B-446B-8C2C-24A583E5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72200"/>
            <a:ext cx="609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2" name="ai3-heading">
            <a:extLst xmlns:a="http://schemas.openxmlformats.org/drawingml/2006/main">
              <a:ext uri="{FF2B5EF4-FFF2-40B4-BE49-F238E27FC236}">
                <a16:creationId xmlns:a16="http://schemas.microsoft.com/office/drawing/2014/main" id="{0A00D768-4DC8-443F-8939-739DC55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419850"/>
            <a:ext cx="5562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Выход</a:t>
            </a:r>
          </a:p>
        </p:txBody>
      </p:sp>
      <p:sp>
        <p:nvSpPr>
          <p:cNvPr id="23" name="ai3-body">
            <a:extLst xmlns:a="http://schemas.openxmlformats.org/drawingml/2006/main">
              <a:ext uri="{FF2B5EF4-FFF2-40B4-BE49-F238E27FC236}">
                <a16:creationId xmlns:a16="http://schemas.microsoft.com/office/drawing/2014/main" id="{CDAD40D3-9DF9-42DF-AAF2-1193B18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99135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Короткая подсказка, объяснение причины ошибки или рекомендация следующего действия.</a:t>
            </a:r>
          </a:p>
        </p:txBody>
      </p:sp>
      <p:sp>
        <p:nvSpPr>
          <p:cNvPr id="24" name="ai-note">
            <a:extLst xmlns:a="http://schemas.openxmlformats.org/drawingml/2006/main">
              <a:ext uri="{FF2B5EF4-FFF2-40B4-BE49-F238E27FC236}">
                <a16:creationId xmlns:a16="http://schemas.microsoft.com/office/drawing/2014/main" id="{0B703F8D-8050-4527-B61E-AA730647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886700"/>
            <a:ext cx="1257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D69"/>
                </a:solidFill>
              </a:defRPr>
            </a:pPr>
            <a:r>
              <a:t>Принцип проекта: ИИ снижает фрустрацию, но не забирает у студента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4957957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E2F1D7A-074B-40C0-8D5F-B4A8C39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9">
            <a:extLst xmlns:a="http://schemas.openxmlformats.org/drawingml/2006/main">
              <a:ext uri="{FF2B5EF4-FFF2-40B4-BE49-F238E27FC236}">
                <a16:creationId xmlns:a16="http://schemas.microsoft.com/office/drawing/2014/main" id="{11428624-64A1-4E69-BC6B-AF4F0D3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9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B065225E-DF93-498F-9B66-E27DD627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Сценарий демонстрации на защите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A6495618-6CD7-4B49-BC5E-75BA796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Этот слайд помогает уложить показ продукта в регламент.</a:t>
            </a:r>
          </a:p>
        </p:txBody>
      </p:sp>
      <p:sp>
        <p:nvSpPr>
          <p:cNvPr id="5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95898EB-A118-41D0-8925-11A27705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d5e65192e40ad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2F772EA0-64A5-4F31-997C-6E1075B2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1808FE9C-1624-44A1-B9B4-E91FCB7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C8789340-17A8-4A21-89DD-50E451C0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Демо</a:t>
            </a:r>
          </a:p>
        </p:txBody>
      </p:sp>
      <p:sp>
        <p:nvSpPr>
          <p:cNvPr id="1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A01C0C67-0E52-4BB7-B297-607F01D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9</a:t>
            </a:r>
          </a:p>
        </p:txBody>
      </p:sp>
      <p:sp>
        <p:nvSpPr>
          <p:cNvPr id="11" name="demo1-panel">
            <a:extLst xmlns:a="http://schemas.openxmlformats.org/drawingml/2006/main">
              <a:ext uri="{FF2B5EF4-FFF2-40B4-BE49-F238E27FC236}">
                <a16:creationId xmlns:a16="http://schemas.microsoft.com/office/drawing/2014/main" id="{7441D6BB-44D9-4A74-90B0-977B788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61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demo1-accent">
            <a:extLst xmlns:a="http://schemas.openxmlformats.org/drawingml/2006/main">
              <a:ext uri="{FF2B5EF4-FFF2-40B4-BE49-F238E27FC236}">
                <a16:creationId xmlns:a16="http://schemas.microsoft.com/office/drawing/2014/main" id="{C363A6D9-3ECC-40EE-89F9-51CAD8F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61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3" name="demo1-heading">
            <a:extLst xmlns:a="http://schemas.openxmlformats.org/drawingml/2006/main">
              <a:ext uri="{FF2B5EF4-FFF2-40B4-BE49-F238E27FC236}">
                <a16:creationId xmlns:a16="http://schemas.microsoft.com/office/drawing/2014/main" id="{3CAFE6B2-47A1-4976-A113-85E3264A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308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1. Уровень</a:t>
            </a:r>
          </a:p>
        </p:txBody>
      </p:sp>
      <p:sp>
        <p:nvSpPr>
          <p:cNvPr id="14" name="demo1-body">
            <a:extLst xmlns:a="http://schemas.openxmlformats.org/drawingml/2006/main">
              <a:ext uri="{FF2B5EF4-FFF2-40B4-BE49-F238E27FC236}">
                <a16:creationId xmlns:a16="http://schemas.microsoft.com/office/drawing/2014/main" id="{99BAE0CE-E9C8-4C8D-8419-8C4B4D83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30861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Показать движение, платформы, врага или сундук, который связан с учебной задачей.</a:t>
            </a:r>
          </a:p>
        </p:txBody>
      </p:sp>
      <p:sp>
        <p:nvSpPr>
          <p:cNvPr id="15" name="demo2-panel">
            <a:extLst xmlns:a="http://schemas.openxmlformats.org/drawingml/2006/main">
              <a:ext uri="{FF2B5EF4-FFF2-40B4-BE49-F238E27FC236}">
                <a16:creationId xmlns:a16="http://schemas.microsoft.com/office/drawing/2014/main" id="{4C2E6299-D545-4E36-A16D-E07F1AD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361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demo2-accent">
            <a:extLst xmlns:a="http://schemas.openxmlformats.org/drawingml/2006/main">
              <a:ext uri="{FF2B5EF4-FFF2-40B4-BE49-F238E27FC236}">
                <a16:creationId xmlns:a16="http://schemas.microsoft.com/office/drawing/2014/main" id="{B7972889-D77E-46A8-8398-06A3DFC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361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7" name="demo2-heading">
            <a:extLst xmlns:a="http://schemas.openxmlformats.org/drawingml/2006/main">
              <a:ext uri="{FF2B5EF4-FFF2-40B4-BE49-F238E27FC236}">
                <a16:creationId xmlns:a16="http://schemas.microsoft.com/office/drawing/2014/main" id="{0377A274-B0F0-45E0-88FD-B7B05CDD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05150"/>
            <a:ext cx="308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2. Терминал</a:t>
            </a:r>
          </a:p>
        </p:txBody>
      </p:sp>
      <p:sp>
        <p:nvSpPr>
          <p:cNvPr id="18" name="demo2-body">
            <a:extLst xmlns:a="http://schemas.openxmlformats.org/drawingml/2006/main">
              <a:ext uri="{FF2B5EF4-FFF2-40B4-BE49-F238E27FC236}">
                <a16:creationId xmlns:a16="http://schemas.microsoft.com/office/drawing/2014/main" id="{02245214-96B9-4C83-BD51-F3C719C3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76650"/>
            <a:ext cx="30861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Открыть задачу, ввести ошибочное решение и показать понятную диагностику.</a:t>
            </a:r>
          </a:p>
        </p:txBody>
      </p:sp>
      <p:sp>
        <p:nvSpPr>
          <p:cNvPr id="19" name="demo3-panel">
            <a:extLst xmlns:a="http://schemas.openxmlformats.org/drawingml/2006/main">
              <a:ext uri="{FF2B5EF4-FFF2-40B4-BE49-F238E27FC236}">
                <a16:creationId xmlns:a16="http://schemas.microsoft.com/office/drawing/2014/main" id="{5C544564-2ADF-435B-93A6-32F66E22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61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demo3-accent">
            <a:extLst xmlns:a="http://schemas.openxmlformats.org/drawingml/2006/main">
              <a:ext uri="{FF2B5EF4-FFF2-40B4-BE49-F238E27FC236}">
                <a16:creationId xmlns:a16="http://schemas.microsoft.com/office/drawing/2014/main" id="{79384758-B209-4B6D-8B6B-73E3722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61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1" name="demo3-heading">
            <a:extLst xmlns:a="http://schemas.openxmlformats.org/drawingml/2006/main">
              <a:ext uri="{FF2B5EF4-FFF2-40B4-BE49-F238E27FC236}">
                <a16:creationId xmlns:a16="http://schemas.microsoft.com/office/drawing/2014/main" id="{1BEFCDAC-5C6C-4A51-892D-CE704AC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3086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3. ИИ-помощь</a:t>
            </a:r>
          </a:p>
        </p:txBody>
      </p:sp>
      <p:sp>
        <p:nvSpPr>
          <p:cNvPr id="22" name="demo3-body">
            <a:extLst xmlns:a="http://schemas.openxmlformats.org/drawingml/2006/main">
              <a:ext uri="{FF2B5EF4-FFF2-40B4-BE49-F238E27FC236}">
                <a16:creationId xmlns:a16="http://schemas.microsoft.com/office/drawing/2014/main" id="{9CA86950-95AF-4454-A3C6-EFA9E40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30861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Запросить подсказку и подчеркнуть, что она не содержит готовый ответ.</a:t>
            </a:r>
          </a:p>
        </p:txBody>
      </p:sp>
      <p:sp>
        <p:nvSpPr>
          <p:cNvPr id="23" name="demo4-panel">
            <a:extLst xmlns:a="http://schemas.openxmlformats.org/drawingml/2006/main">
              <a:ext uri="{FF2B5EF4-FFF2-40B4-BE49-F238E27FC236}">
                <a16:creationId xmlns:a16="http://schemas.microsoft.com/office/drawing/2014/main" id="{AD61A2F8-0B3C-40DA-BA20-B6F55C4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85750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4" name="demo4-accent">
            <a:extLst xmlns:a="http://schemas.openxmlformats.org/drawingml/2006/main">
              <a:ext uri="{FF2B5EF4-FFF2-40B4-BE49-F238E27FC236}">
                <a16:creationId xmlns:a16="http://schemas.microsoft.com/office/drawing/2014/main" id="{DD7E3FF3-7E0B-4D6B-8420-524F5A2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8575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25" name="demo4-heading">
            <a:extLst xmlns:a="http://schemas.openxmlformats.org/drawingml/2006/main">
              <a:ext uri="{FF2B5EF4-FFF2-40B4-BE49-F238E27FC236}">
                <a16:creationId xmlns:a16="http://schemas.microsoft.com/office/drawing/2014/main" id="{A3344041-767D-4470-BD8E-2652D6E5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105150"/>
            <a:ext cx="2895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4. Результат</a:t>
            </a:r>
          </a:p>
        </p:txBody>
      </p:sp>
      <p:sp>
        <p:nvSpPr>
          <p:cNvPr id="26" name="demo4-body">
            <a:extLst xmlns:a="http://schemas.openxmlformats.org/drawingml/2006/main">
              <a:ext uri="{FF2B5EF4-FFF2-40B4-BE49-F238E27FC236}">
                <a16:creationId xmlns:a16="http://schemas.microsoft.com/office/drawing/2014/main" id="{6CC226AE-3E5B-483C-A1D3-68B3987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676650"/>
            <a:ext cx="2895600" cy="302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Исправить код и показать, как игра меняет состояние уровня.</a:t>
            </a:r>
          </a:p>
        </p:txBody>
      </p:sp>
      <p:sp>
        <p:nvSpPr>
          <p:cNvPr id="27" name="demo-rule">
            <a:extLst xmlns:a="http://schemas.openxmlformats.org/drawingml/2006/main">
              <a:ext uri="{FF2B5EF4-FFF2-40B4-BE49-F238E27FC236}">
                <a16:creationId xmlns:a16="http://schemas.microsoft.com/office/drawing/2014/main" id="{8213337A-09D0-42B6-A32C-91864FA2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734300"/>
            <a:ext cx="1362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D69"/>
                </a:solidFill>
              </a:defRPr>
            </a:pPr>
            <a:r>
              <a:t>Рекомендуемый порядок: 2 минуты на продукт, остальное - на результаты и выводы.</a:t>
            </a:r>
          </a:p>
        </p:txBody>
      </p:sp>
    </p:spTree>
    <p:extLst>
      <p:ext uri="{BB962C8B-B14F-4D97-AF65-F5344CB8AC3E}">
        <p14:creationId xmlns:p14="http://schemas.microsoft.com/office/powerpoint/2010/main" val="6908504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A7F03A8-94F1-4750-8D12-631BBCF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10">
            <a:extLst xmlns:a="http://schemas.openxmlformats.org/drawingml/2006/main">
              <a:ext uri="{FF2B5EF4-FFF2-40B4-BE49-F238E27FC236}">
                <a16:creationId xmlns:a16="http://schemas.microsoft.com/office/drawing/2014/main" id="{D330A33E-987C-4416-919C-9C1831D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10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9846829-302E-4E00-AA65-3ED18FB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Пилотное тестирование: продукт дал измеримые данные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990B9DA-674A-4295-9987-79A7943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Логи подтверждают работоспособность сценариев и показывают проблемные места.</a:t>
            </a:r>
          </a:p>
        </p:txBody>
      </p:sp>
      <p:sp>
        <p:nvSpPr>
          <p:cNvPr id="5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031ED09C-FB97-40F5-93A2-11FAE52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2b62ed14e4a56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C1B2BE31-C930-4543-820A-9978AD7E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C9105506-B742-47AD-8471-0EFAFF21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07D91FD0-AD3C-47BE-83FA-411E6E6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Тестирование</a:t>
            </a:r>
          </a:p>
        </p:txBody>
      </p:sp>
      <p:sp>
        <p:nvSpPr>
          <p:cNvPr id="1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0DA41E8D-9CF2-4E59-86CC-DA5DF8E8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10</a:t>
            </a:r>
          </a:p>
        </p:txBody>
      </p:sp>
      <p:sp>
        <p:nvSpPr>
          <p:cNvPr id="11" name="m1-value">
            <a:extLst xmlns:a="http://schemas.openxmlformats.org/drawingml/2006/main">
              <a:ext uri="{FF2B5EF4-FFF2-40B4-BE49-F238E27FC236}">
                <a16:creationId xmlns:a16="http://schemas.microsoft.com/office/drawing/2014/main" id="{58E9D968-5E09-4A01-AD21-69F463A1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2190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61E3C"/>
                </a:solidFill>
              </a:defRPr>
            </a:pPr>
            <a:r>
              <a:t>15</a:t>
            </a:r>
          </a:p>
        </p:txBody>
      </p:sp>
      <p:sp>
        <p:nvSpPr>
          <p:cNvPr id="12" name="m1-label">
            <a:extLst xmlns:a="http://schemas.openxmlformats.org/drawingml/2006/main">
              <a:ext uri="{FF2B5EF4-FFF2-40B4-BE49-F238E27FC236}">
                <a16:creationId xmlns:a16="http://schemas.microsoft.com/office/drawing/2014/main" id="{D223A183-046B-4C7F-B5C9-F7269836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304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7F7F"/>
                </a:solidFill>
              </a:defRPr>
            </a:pPr>
            <a:r>
              <a:t>анонимных профилей</a:t>
            </a:r>
          </a:p>
        </p:txBody>
      </p:sp>
      <p:sp>
        <p:nvSpPr>
          <p:cNvPr id="13" name="m2-value">
            <a:extLst xmlns:a="http://schemas.openxmlformats.org/drawingml/2006/main">
              <a:ext uri="{FF2B5EF4-FFF2-40B4-BE49-F238E27FC236}">
                <a16:creationId xmlns:a16="http://schemas.microsoft.com/office/drawing/2014/main" id="{91E5E098-631C-4CDA-80A4-2BFC550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190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34B9B"/>
                </a:solidFill>
              </a:defRPr>
            </a:pPr>
            <a:r>
              <a:t>72</a:t>
            </a:r>
          </a:p>
        </p:txBody>
      </p:sp>
      <p:sp>
        <p:nvSpPr>
          <p:cNvPr id="14" name="m2-label">
            <a:extLst xmlns:a="http://schemas.openxmlformats.org/drawingml/2006/main">
              <a:ext uri="{FF2B5EF4-FFF2-40B4-BE49-F238E27FC236}">
                <a16:creationId xmlns:a16="http://schemas.microsoft.com/office/drawing/2014/main" id="{DA9FC7D7-4290-4385-B163-621BB681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304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7F7F"/>
                </a:solidFill>
              </a:defRPr>
            </a:pPr>
            <a:r>
              <a:t>игровые сессии</a:t>
            </a:r>
          </a:p>
        </p:txBody>
      </p:sp>
      <p:sp>
        <p:nvSpPr>
          <p:cNvPr id="15" name="m3-value">
            <a:extLst xmlns:a="http://schemas.openxmlformats.org/drawingml/2006/main">
              <a:ext uri="{FF2B5EF4-FFF2-40B4-BE49-F238E27FC236}">
                <a16:creationId xmlns:a16="http://schemas.microsoft.com/office/drawing/2014/main" id="{9ACECD88-9CD5-438E-9754-C91207D0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190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2D69"/>
                </a:solidFill>
              </a:defRPr>
            </a:pPr>
            <a:r>
              <a:t>2536</a:t>
            </a:r>
          </a:p>
        </p:txBody>
      </p:sp>
      <p:sp>
        <p:nvSpPr>
          <p:cNvPr id="16" name="m3-label">
            <a:extLst xmlns:a="http://schemas.openxmlformats.org/drawingml/2006/main">
              <a:ext uri="{FF2B5EF4-FFF2-40B4-BE49-F238E27FC236}">
                <a16:creationId xmlns:a16="http://schemas.microsoft.com/office/drawing/2014/main" id="{88837FC7-E14F-46B7-936F-EFACE218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04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7F7F"/>
                </a:solidFill>
              </a:defRPr>
            </a:pPr>
            <a:r>
              <a:t>событий в логах</a:t>
            </a:r>
          </a:p>
        </p:txBody>
      </p:sp>
      <p:sp>
        <p:nvSpPr>
          <p:cNvPr id="17" name="m4-value">
            <a:extLst xmlns:a="http://schemas.openxmlformats.org/drawingml/2006/main">
              <a:ext uri="{FF2B5EF4-FFF2-40B4-BE49-F238E27FC236}">
                <a16:creationId xmlns:a16="http://schemas.microsoft.com/office/drawing/2014/main" id="{59865660-D85D-49A7-B391-A7F698E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57500"/>
            <a:ext cx="2190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D5A5A"/>
                </a:solidFill>
              </a:defRPr>
            </a:pPr>
            <a:r>
              <a:t>573</a:t>
            </a:r>
          </a:p>
        </p:txBody>
      </p:sp>
      <p:sp>
        <p:nvSpPr>
          <p:cNvPr id="18" name="m4-label">
            <a:extLst xmlns:a="http://schemas.openxmlformats.org/drawingml/2006/main">
              <a:ext uri="{FF2B5EF4-FFF2-40B4-BE49-F238E27FC236}">
                <a16:creationId xmlns:a16="http://schemas.microsoft.com/office/drawing/2014/main" id="{CCF2DFC3-F4BB-4EC5-8A74-6C9B45B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543300"/>
            <a:ext cx="304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F7F7F"/>
                </a:solidFill>
              </a:defRPr>
            </a:pPr>
            <a:r>
              <a:t>попытки проверки кода</a:t>
            </a:r>
          </a:p>
        </p:txBody>
      </p:sp>
      <p:sp>
        <p:nvSpPr>
          <p:cNvPr id="19" name="bars-title">
            <a:extLst xmlns:a="http://schemas.openxmlformats.org/drawingml/2006/main">
              <a:ext uri="{FF2B5EF4-FFF2-40B4-BE49-F238E27FC236}">
                <a16:creationId xmlns:a16="http://schemas.microsoft.com/office/drawing/2014/main" id="{7B561B4F-86D2-4EC9-A46A-E0F992C5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D69"/>
                </a:solidFill>
              </a:defRPr>
            </a:pPr>
            <a:r>
              <a:t>Успешность по темам</a:t>
            </a:r>
          </a:p>
        </p:txBody>
      </p:sp>
      <p:sp>
        <p:nvSpPr>
          <p:cNvPr id="20" name="b1-label">
            <a:extLst xmlns:a="http://schemas.openxmlformats.org/drawingml/2006/main">
              <a:ext uri="{FF2B5EF4-FFF2-40B4-BE49-F238E27FC236}">
                <a16:creationId xmlns:a16="http://schemas.microsoft.com/office/drawing/2014/main" id="{C6B3E4E2-01FE-42EF-8E32-921C75F1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430"/>
                </a:solidFill>
              </a:defRPr>
            </a:pPr>
            <a:r>
              <a:t>Variables</a:t>
            </a:r>
          </a:p>
        </p:txBody>
      </p:sp>
      <p:sp>
        <p:nvSpPr>
          <p:cNvPr id="21" name="b1-bg">
            <a:extLst xmlns:a="http://schemas.openxmlformats.org/drawingml/2006/main">
              <a:ext uri="{FF2B5EF4-FFF2-40B4-BE49-F238E27FC236}">
                <a16:creationId xmlns:a16="http://schemas.microsoft.com/office/drawing/2014/main" id="{7AD13B24-64B2-4CAE-A9EB-BC763D64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388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4"/>
          </a:solidFill>
        </p:spPr>
      </p:sp>
      <p:sp>
        <p:nvSpPr>
          <p:cNvPr id="22" name="b1-fg">
            <a:extLst xmlns:a="http://schemas.openxmlformats.org/drawingml/2006/main">
              <a:ext uri="{FF2B5EF4-FFF2-40B4-BE49-F238E27FC236}">
                <a16:creationId xmlns:a16="http://schemas.microsoft.com/office/drawing/2014/main" id="{7A76A042-5F23-4C8E-990B-1EBBFCAB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38800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23" name="b1-value">
            <a:extLst xmlns:a="http://schemas.openxmlformats.org/drawingml/2006/main">
              <a:ext uri="{FF2B5EF4-FFF2-40B4-BE49-F238E27FC236}">
                <a16:creationId xmlns:a16="http://schemas.microsoft.com/office/drawing/2014/main" id="{06765BBF-8414-4B22-854A-319E6B2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D69"/>
                </a:solidFill>
              </a:defRPr>
            </a:pPr>
            <a:r>
              <a:t>70,2%</a:t>
            </a:r>
          </a:p>
        </p:txBody>
      </p:sp>
      <p:sp>
        <p:nvSpPr>
          <p:cNvPr id="24" name="b2-label">
            <a:extLst xmlns:a="http://schemas.openxmlformats.org/drawingml/2006/main">
              <a:ext uri="{FF2B5EF4-FFF2-40B4-BE49-F238E27FC236}">
                <a16:creationId xmlns:a16="http://schemas.microsoft.com/office/drawing/2014/main" id="{6BAED4DA-EC03-496A-A50C-D5DC97E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150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430"/>
                </a:solidFill>
              </a:defRPr>
            </a:pPr>
            <a:r>
              <a:t>Conditions</a:t>
            </a:r>
          </a:p>
        </p:txBody>
      </p:sp>
      <p:sp>
        <p:nvSpPr>
          <p:cNvPr id="25" name="b2-bg">
            <a:extLst xmlns:a="http://schemas.openxmlformats.org/drawingml/2006/main">
              <a:ext uri="{FF2B5EF4-FFF2-40B4-BE49-F238E27FC236}">
                <a16:creationId xmlns:a16="http://schemas.microsoft.com/office/drawing/2014/main" id="{A0E52363-55A2-43FE-83A6-FD43B3B7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531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4"/>
          </a:solidFill>
        </p:spPr>
      </p:sp>
      <p:sp>
        <p:nvSpPr>
          <p:cNvPr id="26" name="b2-fg">
            <a:extLst xmlns:a="http://schemas.openxmlformats.org/drawingml/2006/main">
              <a:ext uri="{FF2B5EF4-FFF2-40B4-BE49-F238E27FC236}">
                <a16:creationId xmlns:a16="http://schemas.microsoft.com/office/drawing/2014/main" id="{CE55990A-A526-4876-B882-BF526228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531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27" name="b2-value">
            <a:extLst xmlns:a="http://schemas.openxmlformats.org/drawingml/2006/main">
              <a:ext uri="{FF2B5EF4-FFF2-40B4-BE49-F238E27FC236}">
                <a16:creationId xmlns:a16="http://schemas.microsoft.com/office/drawing/2014/main" id="{3F905693-E696-470A-88F9-257365EB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96000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D69"/>
                </a:solidFill>
              </a:defRPr>
            </a:pPr>
            <a:r>
              <a:t>52,5%</a:t>
            </a:r>
          </a:p>
        </p:txBody>
      </p:sp>
      <p:sp>
        <p:nvSpPr>
          <p:cNvPr id="28" name="b3-label">
            <a:extLst xmlns:a="http://schemas.openxmlformats.org/drawingml/2006/main">
              <a:ext uri="{FF2B5EF4-FFF2-40B4-BE49-F238E27FC236}">
                <a16:creationId xmlns:a16="http://schemas.microsoft.com/office/drawing/2014/main" id="{9EC5E2CB-78A1-4027-952C-A16CB2C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294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430"/>
                </a:solidFill>
              </a:defRPr>
            </a:pPr>
            <a:r>
              <a:t>Loops</a:t>
            </a:r>
          </a:p>
        </p:txBody>
      </p:sp>
      <p:sp>
        <p:nvSpPr>
          <p:cNvPr id="29" name="b3-bg">
            <a:extLst xmlns:a="http://schemas.openxmlformats.org/drawingml/2006/main">
              <a:ext uri="{FF2B5EF4-FFF2-40B4-BE49-F238E27FC236}">
                <a16:creationId xmlns:a16="http://schemas.microsoft.com/office/drawing/2014/main" id="{064495AF-7569-476B-89E0-4F22FC6D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6675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4"/>
          </a:solidFill>
        </p:spPr>
      </p:sp>
      <p:sp>
        <p:nvSpPr>
          <p:cNvPr id="30" name="b3-fg">
            <a:extLst xmlns:a="http://schemas.openxmlformats.org/drawingml/2006/main">
              <a:ext uri="{FF2B5EF4-FFF2-40B4-BE49-F238E27FC236}">
                <a16:creationId xmlns:a16="http://schemas.microsoft.com/office/drawing/2014/main" id="{A062A23A-5EC1-454A-8D08-EE7F0A5A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667500"/>
            <a:ext cx="3533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31" name="b3-value">
            <a:extLst xmlns:a="http://schemas.openxmlformats.org/drawingml/2006/main">
              <a:ext uri="{FF2B5EF4-FFF2-40B4-BE49-F238E27FC236}">
                <a16:creationId xmlns:a16="http://schemas.microsoft.com/office/drawing/2014/main" id="{C1A32D3D-68DE-47C9-848A-10459B1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10350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D69"/>
                </a:solidFill>
              </a:defRPr>
            </a:pPr>
            <a:r>
              <a:t>55,7%</a:t>
            </a:r>
          </a:p>
        </p:txBody>
      </p:sp>
      <p:sp>
        <p:nvSpPr>
          <p:cNvPr id="32" name="b4-label">
            <a:extLst xmlns:a="http://schemas.openxmlformats.org/drawingml/2006/main">
              <a:ext uri="{FF2B5EF4-FFF2-40B4-BE49-F238E27FC236}">
                <a16:creationId xmlns:a16="http://schemas.microsoft.com/office/drawing/2014/main" id="{74170A2C-4772-47F3-BA0A-B1A5F30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1437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430"/>
                </a:solidFill>
              </a:defRPr>
            </a:pPr>
            <a:r>
              <a:t>Functions</a:t>
            </a:r>
          </a:p>
        </p:txBody>
      </p:sp>
      <p:sp>
        <p:nvSpPr>
          <p:cNvPr id="33" name="b4-bg">
            <a:extLst xmlns:a="http://schemas.openxmlformats.org/drawingml/2006/main">
              <a:ext uri="{FF2B5EF4-FFF2-40B4-BE49-F238E27FC236}">
                <a16:creationId xmlns:a16="http://schemas.microsoft.com/office/drawing/2014/main" id="{D6BFF4CD-E1AF-423D-A43C-BC85F1A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181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4"/>
          </a:solidFill>
        </p:spPr>
      </p:sp>
      <p:sp>
        <p:nvSpPr>
          <p:cNvPr id="34" name="b4-fg">
            <a:extLst xmlns:a="http://schemas.openxmlformats.org/drawingml/2006/main">
              <a:ext uri="{FF2B5EF4-FFF2-40B4-BE49-F238E27FC236}">
                <a16:creationId xmlns:a16="http://schemas.microsoft.com/office/drawing/2014/main" id="{B47F63A3-DC49-4E98-BCDC-68831B08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181850"/>
            <a:ext cx="3305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35" name="b4-value">
            <a:extLst xmlns:a="http://schemas.openxmlformats.org/drawingml/2006/main">
              <a:ext uri="{FF2B5EF4-FFF2-40B4-BE49-F238E27FC236}">
                <a16:creationId xmlns:a16="http://schemas.microsoft.com/office/drawing/2014/main" id="{880B691E-4E1D-4723-A334-42C68BC2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24700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D69"/>
                </a:solidFill>
              </a:defRPr>
            </a:pPr>
            <a:r>
              <a:t>52,1%</a:t>
            </a:r>
          </a:p>
        </p:txBody>
      </p:sp>
      <p:sp>
        <p:nvSpPr>
          <p:cNvPr id="36" name="b5-label">
            <a:extLst xmlns:a="http://schemas.openxmlformats.org/drawingml/2006/main">
              <a:ext uri="{FF2B5EF4-FFF2-40B4-BE49-F238E27FC236}">
                <a16:creationId xmlns:a16="http://schemas.microsoft.com/office/drawing/2014/main" id="{25ED9DF5-FCD2-480B-BC82-1E76D10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6581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430"/>
                </a:solidFill>
              </a:defRPr>
            </a:pPr>
            <a:r>
              <a:t>Integration</a:t>
            </a:r>
          </a:p>
        </p:txBody>
      </p:sp>
      <p:sp>
        <p:nvSpPr>
          <p:cNvPr id="37" name="b5-bg">
            <a:extLst xmlns:a="http://schemas.openxmlformats.org/drawingml/2006/main">
              <a:ext uri="{FF2B5EF4-FFF2-40B4-BE49-F238E27FC236}">
                <a16:creationId xmlns:a16="http://schemas.microsoft.com/office/drawing/2014/main" id="{428D8B1C-5FC6-415A-80E7-01F1ADC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6962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4"/>
          </a:solidFill>
        </p:spPr>
      </p:sp>
      <p:sp>
        <p:nvSpPr>
          <p:cNvPr id="38" name="b5-fg">
            <a:extLst xmlns:a="http://schemas.openxmlformats.org/drawingml/2006/main">
              <a:ext uri="{FF2B5EF4-FFF2-40B4-BE49-F238E27FC236}">
                <a16:creationId xmlns:a16="http://schemas.microsoft.com/office/drawing/2014/main" id="{13608931-0CF4-4B9A-8AA6-CB15E1DF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696200"/>
            <a:ext cx="3152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/>
          </a:solidFill>
        </p:spPr>
      </p:sp>
      <p:sp>
        <p:nvSpPr>
          <p:cNvPr id="39" name="b5-value">
            <a:extLst xmlns:a="http://schemas.openxmlformats.org/drawingml/2006/main">
              <a:ext uri="{FF2B5EF4-FFF2-40B4-BE49-F238E27FC236}">
                <a16:creationId xmlns:a16="http://schemas.microsoft.com/office/drawing/2014/main" id="{DBF730A4-2B1F-45C1-B116-9876DD92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39050"/>
            <a:ext cx="1047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2D69"/>
                </a:solidFill>
              </a:defRPr>
            </a:pPr>
            <a:r>
              <a:t>49,6%</a:t>
            </a:r>
          </a:p>
        </p:txBody>
      </p:sp>
      <p:sp>
        <p:nvSpPr>
          <p:cNvPr id="40" name="test1-panel">
            <a:extLst xmlns:a="http://schemas.openxmlformats.org/drawingml/2006/main">
              <a:ext uri="{FF2B5EF4-FFF2-40B4-BE49-F238E27FC236}">
                <a16:creationId xmlns:a16="http://schemas.microsoft.com/office/drawing/2014/main" id="{E41BECEF-C956-4026-ADE0-E5FA3090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1" name="test1-accent">
            <a:extLst xmlns:a="http://schemas.openxmlformats.org/drawingml/2006/main">
              <a:ext uri="{FF2B5EF4-FFF2-40B4-BE49-F238E27FC236}">
                <a16:creationId xmlns:a16="http://schemas.microsoft.com/office/drawing/2014/main" id="{F0DE1E11-585C-4055-8044-2BAB546D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590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42" name="test1-heading">
            <a:extLst xmlns:a="http://schemas.openxmlformats.org/drawingml/2006/main">
              <a:ext uri="{FF2B5EF4-FFF2-40B4-BE49-F238E27FC236}">
                <a16:creationId xmlns:a16="http://schemas.microsoft.com/office/drawing/2014/main" id="{9AF7041A-BAF2-42C8-9A81-14661B8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67350"/>
            <a:ext cx="537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Эффект помощи</a:t>
            </a:r>
          </a:p>
        </p:txBody>
      </p:sp>
      <p:sp>
        <p:nvSpPr>
          <p:cNvPr id="43" name="test1-body">
            <a:extLst xmlns:a="http://schemas.openxmlformats.org/drawingml/2006/main">
              <a:ext uri="{FF2B5EF4-FFF2-40B4-BE49-F238E27FC236}">
                <a16:creationId xmlns:a16="http://schemas.microsoft.com/office/drawing/2014/main" id="{4996EE6C-768D-4E95-8FFA-2076CD66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038850"/>
            <a:ext cx="5372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Без помощи: 52,1%. С подсказкой: 65,1%. С подсказкой и объяснением: 63,6%.</a:t>
            </a:r>
          </a:p>
        </p:txBody>
      </p:sp>
      <p:sp>
        <p:nvSpPr>
          <p:cNvPr id="44" name="test2-panel">
            <a:extLst xmlns:a="http://schemas.openxmlformats.org/drawingml/2006/main">
              <a:ext uri="{FF2B5EF4-FFF2-40B4-BE49-F238E27FC236}">
                <a16:creationId xmlns:a16="http://schemas.microsoft.com/office/drawing/2014/main" id="{03AA3852-1DD7-4C62-BECA-0F11CD6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0294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5" name="test2-accent">
            <a:extLst xmlns:a="http://schemas.openxmlformats.org/drawingml/2006/main">
              <a:ext uri="{FF2B5EF4-FFF2-40B4-BE49-F238E27FC236}">
                <a16:creationId xmlns:a16="http://schemas.microsoft.com/office/drawing/2014/main" id="{FE89FAAC-2354-4EB2-9056-BE9A2851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029450"/>
            <a:ext cx="590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46" name="test2-heading">
            <a:extLst xmlns:a="http://schemas.openxmlformats.org/drawingml/2006/main">
              <a:ext uri="{FF2B5EF4-FFF2-40B4-BE49-F238E27FC236}">
                <a16:creationId xmlns:a16="http://schemas.microsoft.com/office/drawing/2014/main" id="{6680E9CB-3D62-4BB1-BC38-DD171F8F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277100"/>
            <a:ext cx="537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Зона риска</a:t>
            </a:r>
          </a:p>
        </p:txBody>
      </p:sp>
      <p:sp>
        <p:nvSpPr>
          <p:cNvPr id="47" name="test2-body">
            <a:extLst xmlns:a="http://schemas.openxmlformats.org/drawingml/2006/main">
              <a:ext uri="{FF2B5EF4-FFF2-40B4-BE49-F238E27FC236}">
                <a16:creationId xmlns:a16="http://schemas.microsoft.com/office/drawing/2014/main" id="{FC69CBE4-7EAC-47FC-A1BF-A3B0A01B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848600"/>
            <a:ext cx="5372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Босс-сценарии сложнее: успешность взаимодействия 44,1%, поэтому они требуют доработки баланса.</a:t>
            </a:r>
          </a:p>
        </p:txBody>
      </p:sp>
    </p:spTree>
    <p:extLst>
      <p:ext uri="{BB962C8B-B14F-4D97-AF65-F5344CB8AC3E}">
        <p14:creationId xmlns:p14="http://schemas.microsoft.com/office/powerpoint/2010/main" val="2784511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1D400FC-DBDB-425E-8B5E-9830EB9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11">
            <a:extLst xmlns:a="http://schemas.openxmlformats.org/drawingml/2006/main">
              <a:ext uri="{FF2B5EF4-FFF2-40B4-BE49-F238E27FC236}">
                <a16:creationId xmlns:a16="http://schemas.microsoft.com/office/drawing/2014/main" id="{273A197D-39B8-4A4A-912B-E7C7CDC2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11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EDE1449B-BB47-4687-8CC1-551DD3C6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Выводы: цель ВКР достигнута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FF100BD-07C3-4F37-9814-73C24CA3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Получился рабочий прототип и база для дальнейшего исследования.</a:t>
            </a:r>
          </a:p>
        </p:txBody>
      </p:sp>
      <p:sp>
        <p:nvSpPr>
          <p:cNvPr id="5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7916C642-296C-4D97-A6ED-4417430A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6bc89124d4553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8D9552EA-1087-4772-9B62-AC22EA4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8BEE51DE-9C17-4145-8D0E-94150BB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11">
            <a:extLst xmlns:a="http://schemas.openxmlformats.org/drawingml/2006/main">
              <a:ext uri="{FF2B5EF4-FFF2-40B4-BE49-F238E27FC236}">
                <a16:creationId xmlns:a16="http://schemas.microsoft.com/office/drawing/2014/main" id="{2F0FBD05-304A-4A6A-8653-0EBF1E3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Выводы</a:t>
            </a:r>
          </a:p>
        </p:txBody>
      </p:sp>
      <p:sp>
        <p:nvSpPr>
          <p:cNvPr id="1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8726CCBB-AD12-4EFE-BD6C-6E100722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11</a:t>
            </a:r>
          </a:p>
        </p:txBody>
      </p:sp>
      <p:sp>
        <p:nvSpPr>
          <p:cNvPr id="11" name="res1-panel">
            <a:extLst xmlns:a="http://schemas.openxmlformats.org/drawingml/2006/main">
              <a:ext uri="{FF2B5EF4-FFF2-40B4-BE49-F238E27FC236}">
                <a16:creationId xmlns:a16="http://schemas.microsoft.com/office/drawing/2014/main" id="{59B5C50B-F0F1-454C-A9DC-E99191E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res1-accent">
            <a:extLst xmlns:a="http://schemas.openxmlformats.org/drawingml/2006/main">
              <a:ext uri="{FF2B5EF4-FFF2-40B4-BE49-F238E27FC236}">
                <a16:creationId xmlns:a16="http://schemas.microsoft.com/office/drawing/2014/main" id="{6E9C2552-690C-4427-9831-E92EF25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3" name="res1-heading">
            <a:extLst xmlns:a="http://schemas.openxmlformats.org/drawingml/2006/main">
              <a:ext uri="{FF2B5EF4-FFF2-40B4-BE49-F238E27FC236}">
                <a16:creationId xmlns:a16="http://schemas.microsoft.com/office/drawing/2014/main" id="{8E196CFF-BF55-4933-ABB8-6C48642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Что разработано</a:t>
            </a:r>
          </a:p>
        </p:txBody>
      </p:sp>
      <p:sp>
        <p:nvSpPr>
          <p:cNvPr id="14" name="res1-body">
            <a:extLst xmlns:a="http://schemas.openxmlformats.org/drawingml/2006/main">
              <a:ext uri="{FF2B5EF4-FFF2-40B4-BE49-F238E27FC236}">
                <a16:creationId xmlns:a16="http://schemas.microsoft.com/office/drawing/2014/main" id="{FC23E3ED-70BD-4AAE-B4C6-DFD61700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Игровой клиент на Godot 4, backend на FastAPI, задания, проверка, подсказки и сбор логов.</a:t>
            </a:r>
          </a:p>
        </p:txBody>
      </p:sp>
      <p:sp>
        <p:nvSpPr>
          <p:cNvPr id="15" name="res2-panel">
            <a:extLst xmlns:a="http://schemas.openxmlformats.org/drawingml/2006/main">
              <a:ext uri="{FF2B5EF4-FFF2-40B4-BE49-F238E27FC236}">
                <a16:creationId xmlns:a16="http://schemas.microsoft.com/office/drawing/2014/main" id="{8FFBB5F5-232B-4D30-B4D7-F1288DB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res2-accent">
            <a:extLst xmlns:a="http://schemas.openxmlformats.org/drawingml/2006/main">
              <a:ext uri="{FF2B5EF4-FFF2-40B4-BE49-F238E27FC236}">
                <a16:creationId xmlns:a16="http://schemas.microsoft.com/office/drawing/2014/main" id="{9D2405E3-8975-45F0-9993-57668AF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7" name="res2-heading">
            <a:extLst xmlns:a="http://schemas.openxmlformats.org/drawingml/2006/main">
              <a:ext uri="{FF2B5EF4-FFF2-40B4-BE49-F238E27FC236}">
                <a16:creationId xmlns:a16="http://schemas.microsoft.com/office/drawing/2014/main" id="{BC80455F-34FA-4BB5-B4E1-8201C58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Что подтверждено</a:t>
            </a:r>
          </a:p>
        </p:txBody>
      </p:sp>
      <p:sp>
        <p:nvSpPr>
          <p:cNvPr id="18" name="res2-body">
            <a:extLst xmlns:a="http://schemas.openxmlformats.org/drawingml/2006/main">
              <a:ext uri="{FF2B5EF4-FFF2-40B4-BE49-F238E27FC236}">
                <a16:creationId xmlns:a16="http://schemas.microsoft.com/office/drawing/2014/main" id="{E5E879B0-E999-48DF-B7F4-5784CBC9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Пилотные данные показывают, что связка «код - действие - подсказка» работает и измерима.</a:t>
            </a:r>
          </a:p>
        </p:txBody>
      </p:sp>
      <p:sp>
        <p:nvSpPr>
          <p:cNvPr id="19" name="res3-panel">
            <a:extLst xmlns:a="http://schemas.openxmlformats.org/drawingml/2006/main">
              <a:ext uri="{FF2B5EF4-FFF2-40B4-BE49-F238E27FC236}">
                <a16:creationId xmlns:a16="http://schemas.microsoft.com/office/drawing/2014/main" id="{D2537829-FCE5-4DA3-A8D1-7992074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res3-accent">
            <a:extLst xmlns:a="http://schemas.openxmlformats.org/drawingml/2006/main">
              <a:ext uri="{FF2B5EF4-FFF2-40B4-BE49-F238E27FC236}">
                <a16:creationId xmlns:a16="http://schemas.microsoft.com/office/drawing/2014/main" id="{3FF6F327-6B83-4114-BE70-A29BE0C9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1" name="res3-heading">
            <a:extLst xmlns:a="http://schemas.openxmlformats.org/drawingml/2006/main">
              <a:ext uri="{FF2B5EF4-FFF2-40B4-BE49-F238E27FC236}">
                <a16:creationId xmlns:a16="http://schemas.microsoft.com/office/drawing/2014/main" id="{FC617E40-9B35-4889-B0DB-BB72383C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Что ограничено</a:t>
            </a:r>
          </a:p>
        </p:txBody>
      </p:sp>
      <p:sp>
        <p:nvSpPr>
          <p:cNvPr id="22" name="res3-body">
            <a:extLst xmlns:a="http://schemas.openxmlformats.org/drawingml/2006/main">
              <a:ext uri="{FF2B5EF4-FFF2-40B4-BE49-F238E27FC236}">
                <a16:creationId xmlns:a16="http://schemas.microsoft.com/office/drawing/2014/main" id="{2D02C321-BDAD-4AB3-B501-55A3F033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Выборка небольшая, а баланс сложности требует дополнительного тестирования.</a:t>
            </a:r>
          </a:p>
        </p:txBody>
      </p:sp>
      <p:sp>
        <p:nvSpPr>
          <p:cNvPr id="23" name="answer">
            <a:extLst xmlns:a="http://schemas.openxmlformats.org/drawingml/2006/main">
              <a:ext uri="{FF2B5EF4-FFF2-40B4-BE49-F238E27FC236}">
                <a16:creationId xmlns:a16="http://schemas.microsoft.com/office/drawing/2014/main" id="{11F5FD99-F576-4E51-A074-95D2A0E7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86500"/>
            <a:ext cx="14382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2D69"/>
                </a:solidFill>
              </a:defRPr>
            </a:pPr>
            <a:r>
              <a:t>Ответ на исследовательский вопрос: платформер можно использовать как учебный интерфейс, если игровые события напрямую связаны с проверяемыми программными конструкциями, а ИИ выполняет роль контекстной поддержки.</a:t>
            </a:r>
          </a:p>
        </p:txBody>
      </p:sp>
      <p:sp>
        <p:nvSpPr>
          <p:cNvPr id="24" name="conclusion-line">
            <a:extLst xmlns:a="http://schemas.openxmlformats.org/drawingml/2006/main">
              <a:ext uri="{FF2B5EF4-FFF2-40B4-BE49-F238E27FC236}">
                <a16:creationId xmlns:a16="http://schemas.microsoft.com/office/drawing/2014/main" id="{B05D4DCA-80D3-4BEC-A387-85E00247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096250"/>
            <a:ext cx="1085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</p:spTree>
    <p:extLst>
      <p:ext uri="{BB962C8B-B14F-4D97-AF65-F5344CB8AC3E}">
        <p14:creationId xmlns:p14="http://schemas.microsoft.com/office/powerpoint/2010/main" val="4388485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8F4C2B6-BE6D-4273-9C06-E80564D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</p:spPr>
      </p:sp>
      <p:sp>
        <p:nvSpPr>
          <p:cNvPr id="2" name="num-12">
            <a:extLst xmlns:a="http://schemas.openxmlformats.org/drawingml/2006/main">
              <a:ext uri="{FF2B5EF4-FFF2-40B4-BE49-F238E27FC236}">
                <a16:creationId xmlns:a16="http://schemas.microsoft.com/office/drawing/2014/main" id="{67FEF3CD-AF6A-4A1F-A912-07AD8D79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51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61E3C"/>
                </a:solidFill>
              </a:defRPr>
            </a:pPr>
            <a:r>
              <a:t>12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B8FD9147-0F75-4A77-8760-D30E14E4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71500"/>
            <a:ext cx="12001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2D69"/>
                </a:solidFill>
              </a:defRPr>
            </a:pPr>
            <a:r>
              <a:t>Ключевые источники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ADD3A243-C9F3-40F2-B601-94C33D49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F7F7F"/>
                </a:solidFill>
              </a:defRPr>
            </a:pPr>
            <a:r>
              <a:t>Слайд нужен для формального блока и вопросов комиссии.</a:t>
            </a:r>
          </a:p>
        </p:txBody>
      </p:sp>
      <p:sp>
        <p:nvSpPr>
          <p:cNvPr id="5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4B9B38C3-FA54-42C5-A07A-C34185D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pic>
        <p:nvPicPr>
          <p:cNvPr id="6" name="hse-logo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e886fe5b547d5"/>
          <a:stretch xmlns:a="http://schemas.openxmlformats.org/drawingml/2006/main"/>
        </p:blipFill>
        <p:spPr>
          <a:xfrm xmlns:a="http://schemas.openxmlformats.org/drawingml/2006/main">
            <a:off x="14618777" y="514350"/>
            <a:ext cx="2328295" cy="1162050"/>
          </a:xfrm>
          <a:prstGeom xmlns:a="http://schemas.openxmlformats.org/drawingml/2006/main" prst="rect">
            <a:avLst/>
          </a:prstGeom>
        </p:spPr>
      </p:pic>
      <p:sp>
        <p:nvSpPr>
          <p:cNvPr id="7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920F3F18-38EA-4066-A0C3-E3E69023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63100"/>
            <a:ext cx="1645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8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E34D048C-8C9D-4BA0-BC82-548FFF8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34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Разработка обучающей игры-платформера с интеграцией ИИ</a:t>
            </a:r>
          </a:p>
        </p:txBody>
      </p:sp>
      <p:sp>
        <p:nvSpPr>
          <p:cNvPr id="9" name="footer-section-12">
            <a:extLst xmlns:a="http://schemas.openxmlformats.org/drawingml/2006/main">
              <a:ext uri="{FF2B5EF4-FFF2-40B4-BE49-F238E27FC236}">
                <a16:creationId xmlns:a16="http://schemas.microsoft.com/office/drawing/2014/main" id="{2985093C-0A4A-4B34-BA32-A9F998BB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34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F7F7F"/>
                </a:solidFill>
              </a:defRPr>
            </a:pPr>
            <a:r>
              <a:t>Источники</a:t>
            </a:r>
          </a:p>
        </p:txBody>
      </p:sp>
      <p:sp>
        <p:nvSpPr>
          <p:cNvPr id="1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E98FE610-8D6F-4602-995A-B57FF2A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09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2D69"/>
                </a:solidFill>
              </a:defRPr>
            </a:pPr>
            <a:r>
              <a:t>12</a:t>
            </a:r>
          </a:p>
        </p:txBody>
      </p:sp>
      <p:sp>
        <p:nvSpPr>
          <p:cNvPr id="11" name="lit1-panel">
            <a:extLst xmlns:a="http://schemas.openxmlformats.org/drawingml/2006/main">
              <a:ext uri="{FF2B5EF4-FFF2-40B4-BE49-F238E27FC236}">
                <a16:creationId xmlns:a16="http://schemas.microsoft.com/office/drawing/2014/main" id="{9667BA73-6FD6-444F-8C81-62DA51D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lit1-accent">
            <a:extLst xmlns:a="http://schemas.openxmlformats.org/drawingml/2006/main">
              <a:ext uri="{FF2B5EF4-FFF2-40B4-BE49-F238E27FC236}">
                <a16:creationId xmlns:a16="http://schemas.microsoft.com/office/drawing/2014/main" id="{5FF26517-7668-4AC8-9214-CB49EA5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9B"/>
          </a:solidFill>
        </p:spPr>
      </p:sp>
      <p:sp>
        <p:nvSpPr>
          <p:cNvPr id="13" name="lit1-heading">
            <a:extLst xmlns:a="http://schemas.openxmlformats.org/drawingml/2006/main">
              <a:ext uri="{FF2B5EF4-FFF2-40B4-BE49-F238E27FC236}">
                <a16:creationId xmlns:a16="http://schemas.microsoft.com/office/drawing/2014/main" id="{299925B0-44E5-4A19-859D-8CA3DEA0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Обучение программированию</a:t>
            </a:r>
          </a:p>
        </p:txBody>
      </p:sp>
      <p:sp>
        <p:nvSpPr>
          <p:cNvPr id="14" name="lit1-body">
            <a:extLst xmlns:a="http://schemas.openxmlformats.org/drawingml/2006/main">
              <a:ext uri="{FF2B5EF4-FFF2-40B4-BE49-F238E27FC236}">
                <a16:creationId xmlns:a16="http://schemas.microsoft.com/office/drawing/2014/main" id="{72238D35-5CED-4F85-A984-66CFEDE8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Работы о сложностях начального обучения, визуализации результата и роли обратной связи.</a:t>
            </a:r>
          </a:p>
        </p:txBody>
      </p:sp>
      <p:sp>
        <p:nvSpPr>
          <p:cNvPr id="15" name="lit2-panel">
            <a:extLst xmlns:a="http://schemas.openxmlformats.org/drawingml/2006/main">
              <a:ext uri="{FF2B5EF4-FFF2-40B4-BE49-F238E27FC236}">
                <a16:creationId xmlns:a16="http://schemas.microsoft.com/office/drawing/2014/main" id="{E25D7583-AA45-4B19-B92C-6A5CD8A6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6" name="lit2-accent">
            <a:extLst xmlns:a="http://schemas.openxmlformats.org/drawingml/2006/main">
              <a:ext uri="{FF2B5EF4-FFF2-40B4-BE49-F238E27FC236}">
                <a16:creationId xmlns:a16="http://schemas.microsoft.com/office/drawing/2014/main" id="{08EE8BE6-47B4-456E-935F-6ECC76F1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17" name="lit2-heading">
            <a:extLst xmlns:a="http://schemas.openxmlformats.org/drawingml/2006/main">
              <a:ext uri="{FF2B5EF4-FFF2-40B4-BE49-F238E27FC236}">
                <a16:creationId xmlns:a16="http://schemas.microsoft.com/office/drawing/2014/main" id="{6C825731-C0DA-4D08-887A-17CED7E7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Игровое обучение</a:t>
            </a:r>
          </a:p>
        </p:txBody>
      </p:sp>
      <p:sp>
        <p:nvSpPr>
          <p:cNvPr id="18" name="lit2-body">
            <a:extLst xmlns:a="http://schemas.openxmlformats.org/drawingml/2006/main">
              <a:ext uri="{FF2B5EF4-FFF2-40B4-BE49-F238E27FC236}">
                <a16:creationId xmlns:a16="http://schemas.microsoft.com/office/drawing/2014/main" id="{E8509285-3F8E-4303-9469-551FF8BD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Источники по game-based learning, мотивации, вовлечению и проектированию учебных механик.</a:t>
            </a:r>
          </a:p>
        </p:txBody>
      </p:sp>
      <p:sp>
        <p:nvSpPr>
          <p:cNvPr id="19" name="lit3-panel">
            <a:extLst xmlns:a="http://schemas.openxmlformats.org/drawingml/2006/main">
              <a:ext uri="{FF2B5EF4-FFF2-40B4-BE49-F238E27FC236}">
                <a16:creationId xmlns:a16="http://schemas.microsoft.com/office/drawing/2014/main" id="{8FFC8E28-927A-4A9A-BA05-D5CFF91B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lit3-accent">
            <a:extLst xmlns:a="http://schemas.openxmlformats.org/drawingml/2006/main">
              <a:ext uri="{FF2B5EF4-FFF2-40B4-BE49-F238E27FC236}">
                <a16:creationId xmlns:a16="http://schemas.microsoft.com/office/drawing/2014/main" id="{B4A0312D-901D-4913-B4CF-CAC9D028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8575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A5A"/>
          </a:solidFill>
        </p:spPr>
      </p:sp>
      <p:sp>
        <p:nvSpPr>
          <p:cNvPr id="21" name="lit3-heading">
            <a:extLst xmlns:a="http://schemas.openxmlformats.org/drawingml/2006/main">
              <a:ext uri="{FF2B5EF4-FFF2-40B4-BE49-F238E27FC236}">
                <a16:creationId xmlns:a16="http://schemas.microsoft.com/office/drawing/2014/main" id="{9B426597-64B1-43D5-8317-523B8157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105150"/>
            <a:ext cx="4229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2D69"/>
                </a:solidFill>
              </a:defRPr>
            </a:pPr>
            <a:r>
              <a:t>ИИ в образовании</a:t>
            </a:r>
          </a:p>
        </p:txBody>
      </p:sp>
      <p:sp>
        <p:nvSpPr>
          <p:cNvPr id="22" name="lit3-body">
            <a:extLst xmlns:a="http://schemas.openxmlformats.org/drawingml/2006/main">
              <a:ext uri="{FF2B5EF4-FFF2-40B4-BE49-F238E27FC236}">
                <a16:creationId xmlns:a16="http://schemas.microsoft.com/office/drawing/2014/main" id="{765221D7-5B46-47D1-8A9F-D4E6A595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42291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430"/>
                </a:solidFill>
              </a:defRPr>
            </a:pPr>
            <a:r>
              <a:t>Исследования по LLM-подсказкам, scaffolding, ограничениям и риску генерации готового ответа.</a:t>
            </a:r>
          </a:p>
        </p:txBody>
      </p:sp>
      <p:sp>
        <p:nvSpPr>
          <p:cNvPr id="23" name="lit-note">
            <a:extLst xmlns:a="http://schemas.openxmlformats.org/drawingml/2006/main">
              <a:ext uri="{FF2B5EF4-FFF2-40B4-BE49-F238E27FC236}">
                <a16:creationId xmlns:a16="http://schemas.microsoft.com/office/drawing/2014/main" id="{51444CC2-6012-4BC9-BF58-1796BB1A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800850"/>
            <a:ext cx="1257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2D69"/>
                </a:solidFill>
              </a:defRPr>
            </a:pPr>
            <a:r>
              <a:t>На устной защите список не зачитывается: лучше связать 2-3 источника с архитектурой, подсказками и тестированием.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17820481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03D8626-9031-4718-8E44-B5B8378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2" name="thanks-blue">
            <a:extLst xmlns:a="http://schemas.openxmlformats.org/drawingml/2006/main">
              <a:ext uri="{FF2B5EF4-FFF2-40B4-BE49-F238E27FC236}">
                <a16:creationId xmlns:a16="http://schemas.microsoft.com/office/drawing/2014/main" id="{E32793D5-DE48-46F2-AC16-3D57D61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69"/>
          </a:solidFill>
        </p:spPr>
      </p:sp>
      <p:sp>
        <p:nvSpPr>
          <p:cNvPr id="3" name="thanks-red">
            <a:extLst xmlns:a="http://schemas.openxmlformats.org/drawingml/2006/main">
              <a:ext uri="{FF2B5EF4-FFF2-40B4-BE49-F238E27FC236}">
                <a16:creationId xmlns:a16="http://schemas.microsoft.com/office/drawing/2014/main" id="{1FC2FB90-0F4D-4003-BB83-A4BA586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  <p:sp>
        <p:nvSpPr>
          <p:cNvPr id="4" name="thanks-logo-bg">
            <a:extLst xmlns:a="http://schemas.openxmlformats.org/drawingml/2006/main">
              <a:ext uri="{FF2B5EF4-FFF2-40B4-BE49-F238E27FC236}">
                <a16:creationId xmlns:a16="http://schemas.microsoft.com/office/drawing/2014/main" id="{296F3960-98BF-4B98-9A75-DEACC8DA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390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5" name="thanks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576a1df374ecb"/>
          <a:stretch xmlns:a="http://schemas.openxmlformats.org/drawingml/2006/main"/>
        </p:blipFill>
        <p:spPr>
          <a:xfrm xmlns:a="http://schemas.openxmlformats.org/drawingml/2006/main">
            <a:off x="1273909" y="704850"/>
            <a:ext cx="2709983" cy="1352550"/>
          </a:xfrm>
          <a:prstGeom xmlns:a="http://schemas.openxmlformats.org/drawingml/2006/main" prst="rect">
            <a:avLst/>
          </a:prstGeom>
        </p:spPr>
      </p:pic>
      <p:sp>
        <p:nvSpPr>
          <p:cNvPr id="6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7B952EC7-2312-47F3-A844-5FA4022A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76600"/>
            <a:ext cx="10477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7" name="thanks-subtitle">
            <a:extLst xmlns:a="http://schemas.openxmlformats.org/drawingml/2006/main">
              <a:ext uri="{FF2B5EF4-FFF2-40B4-BE49-F238E27FC236}">
                <a16:creationId xmlns:a16="http://schemas.microsoft.com/office/drawing/2014/main" id="{7388F304-A0AA-4C3A-A89E-D78966D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857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C3C3"/>
                </a:solidFill>
              </a:defRPr>
            </a:pPr>
            <a:r>
              <a:t>Готов ответить на вопросы комиссии</a:t>
            </a:r>
          </a:p>
        </p:txBody>
      </p:sp>
      <p:sp>
        <p:nvSpPr>
          <p:cNvPr id="8" name="thanks-name">
            <a:extLst xmlns:a="http://schemas.openxmlformats.org/drawingml/2006/main">
              <a:ext uri="{FF2B5EF4-FFF2-40B4-BE49-F238E27FC236}">
                <a16:creationId xmlns:a16="http://schemas.microsoft.com/office/drawing/2014/main" id="{2C5781E5-6662-4CB4-91ED-30C00B3E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724650"/>
            <a:ext cx="7810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FFFFF"/>
                </a:solidFill>
              </a:defRPr>
            </a:pPr>
            <a:r>
              <a:t>Блинков Илья Олегович</a:t>
            </a:r>
          </a:p>
          <a:p xmlns:a="http://schemas.openxmlformats.org/drawingml/2006/main">
            <a:pPr>
              <a:defRPr sz="2100">
                <a:solidFill>
                  <a:srgbClr val="FFFFFF"/>
                </a:solidFill>
              </a:defRPr>
            </a:pPr>
            <a:r>
              <a:t>НИУ ВШЭ, Нижний Новгород</a:t>
            </a:r>
          </a:p>
          <a:p xmlns:a="http://schemas.openxmlformats.org/drawingml/2006/main">
            <a:pPr>
              <a:defRPr sz="2100">
                <a:solidFill>
                  <a:srgbClr val="FFFFFF"/>
                </a:solidFill>
              </a:defRPr>
            </a:pPr>
            <a:r>
              <a:t>2026</a:t>
            </a:r>
          </a:p>
        </p:txBody>
      </p:sp>
      <p:pic>
        <p:nvPicPr>
          <p:cNvPr id="9" name="thanks-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1a3efb1014db8"/>
          <a:srcRect xmlns:a="http://schemas.openxmlformats.org/drawingml/2006/main" l="0" t="2420" r="0" b="24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2857500"/>
            <a:ext cx="5905500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thanks-shot-line">
            <a:extLst xmlns:a="http://schemas.openxmlformats.org/drawingml/2006/main">
              <a:ext uri="{FF2B5EF4-FFF2-40B4-BE49-F238E27FC236}">
                <a16:creationId xmlns:a16="http://schemas.microsoft.com/office/drawing/2014/main" id="{6246BE9E-6774-469A-82A6-35BA7B7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590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E3C"/>
          </a:solidFill>
        </p:spPr>
      </p:sp>
    </p:spTree>
    <p:extLst>
      <p:ext uri="{BB962C8B-B14F-4D97-AF65-F5344CB8AC3E}">
        <p14:creationId xmlns:p14="http://schemas.microsoft.com/office/powerpoint/2010/main" val="21228336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2026-05-30T21:51:09.3040000Z</dcterms:created>
  <dcterms:modified xsi:type="dcterms:W3CDTF">2026-05-30T21:51:09.3040000Z</dcterms:modified>
</coreProperties>
</file>